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477924a718eb445a" /><Relationship Type="http://schemas.openxmlformats.org/officeDocument/2006/relationships/extended-properties" Target="/docProps/app.xml" Id="R429e9ab874b84bec" /><Relationship Type="http://schemas.openxmlformats.org/officeDocument/2006/relationships/officeDocument" Target="/ppt/presentation.xml" Id="R8786bc6854b04999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b007e1811c094f05"/>
  </p:sldMasterIdLst>
  <p:notesMasterIdLst>
    <p:notesMasterId xmlns:r="http://schemas.openxmlformats.org/officeDocument/2006/relationships" r:id="R4eeb0708841340ce"/>
  </p:notesMasterIdLst>
  <p:sldIdLst>
    <p:sldId xmlns:r="http://schemas.openxmlformats.org/officeDocument/2006/relationships" id="256" r:id="R320fd538684d4988"/>
    <p:sldId xmlns:r="http://schemas.openxmlformats.org/officeDocument/2006/relationships" id="257" r:id="R8e2b34220ca34e9d"/>
    <p:sldId xmlns:r="http://schemas.openxmlformats.org/officeDocument/2006/relationships" id="258" r:id="R1d995e6aa87b4f7a"/>
    <p:sldId xmlns:r="http://schemas.openxmlformats.org/officeDocument/2006/relationships" id="259" r:id="Rae65a1bf2d514be1"/>
    <p:sldId xmlns:r="http://schemas.openxmlformats.org/officeDocument/2006/relationships" id="260" r:id="Rb7d8474cc1974888"/>
    <p:sldId xmlns:r="http://schemas.openxmlformats.org/officeDocument/2006/relationships" id="261" r:id="R2e1c612417eb430c"/>
    <p:sldId xmlns:r="http://schemas.openxmlformats.org/officeDocument/2006/relationships" id="262" r:id="Rec4f538bc11e4aa5"/>
    <p:sldId xmlns:r="http://schemas.openxmlformats.org/officeDocument/2006/relationships" id="263" r:id="Rd497bb08d47b4284"/>
    <p:sldId xmlns:r="http://schemas.openxmlformats.org/officeDocument/2006/relationships" id="264" r:id="Rc03d7be63b1e474c"/>
    <p:sldId xmlns:r="http://schemas.openxmlformats.org/officeDocument/2006/relationships" id="265" r:id="R7ed943376cfe4831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cec915c1e81b4a53" /><Relationship Type="http://schemas.openxmlformats.org/officeDocument/2006/relationships/slideMaster" Target="/ppt/slideMasters/slideMaster1.xml" Id="Rb007e1811c094f05" /><Relationship Type="http://schemas.openxmlformats.org/officeDocument/2006/relationships/notesMaster" Target="/ppt/notesMasters/notesMaster1.xml" Id="R4eeb0708841340ce" /><Relationship Type="http://schemas.openxmlformats.org/officeDocument/2006/relationships/presProps" Target="/ppt/presProps.xml" Id="Rc27de3b42dee4a9b" /><Relationship Type="http://schemas.openxmlformats.org/officeDocument/2006/relationships/tableStyles" Target="/ppt/tableStyles.xml" Id="Rc88fa15e05cc4c1b" /><Relationship Type="http://schemas.openxmlformats.org/officeDocument/2006/relationships/slide" Target="/ppt/slides/slide1.xml" Id="R320fd538684d4988" /><Relationship Type="http://schemas.openxmlformats.org/officeDocument/2006/relationships/slide" Target="/ppt/slides/slide2.xml" Id="R8e2b34220ca34e9d" /><Relationship Type="http://schemas.openxmlformats.org/officeDocument/2006/relationships/slide" Target="/ppt/slides/slide3.xml" Id="R1d995e6aa87b4f7a" /><Relationship Type="http://schemas.openxmlformats.org/officeDocument/2006/relationships/slide" Target="/ppt/slides/slide4.xml" Id="Rae65a1bf2d514be1" /><Relationship Type="http://schemas.openxmlformats.org/officeDocument/2006/relationships/slide" Target="/ppt/slides/slide5.xml" Id="Rb7d8474cc1974888" /><Relationship Type="http://schemas.openxmlformats.org/officeDocument/2006/relationships/slide" Target="/ppt/slides/slide6.xml" Id="R2e1c612417eb430c" /><Relationship Type="http://schemas.openxmlformats.org/officeDocument/2006/relationships/slide" Target="/ppt/slides/slide7.xml" Id="Rec4f538bc11e4aa5" /><Relationship Type="http://schemas.openxmlformats.org/officeDocument/2006/relationships/slide" Target="/ppt/slides/slide8.xml" Id="Rd497bb08d47b4284" /><Relationship Type="http://schemas.openxmlformats.org/officeDocument/2006/relationships/slide" Target="/ppt/slides/slide9.xml" Id="Rc03d7be63b1e474c" /><Relationship Type="http://schemas.openxmlformats.org/officeDocument/2006/relationships/slide" Target="/ppt/slides/slide10.xml" Id="R7ed943376cfe4831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72eddca76f464bff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0ff3fd0f61d24f83" /><Relationship Type="http://schemas.openxmlformats.org/officeDocument/2006/relationships/notesMaster" Target="/ppt/notesMasters/notesMaster1.xml" Id="R1b8b25b462294f4b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c537efd67c4c4161" /><Relationship Type="http://schemas.openxmlformats.org/officeDocument/2006/relationships/notesMaster" Target="/ppt/notesMasters/notesMaster1.xml" Id="R9d33602ee9584d61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8cf9f00f05234540" /><Relationship Type="http://schemas.openxmlformats.org/officeDocument/2006/relationships/notesMaster" Target="/ppt/notesMasters/notesMaster1.xml" Id="R7571265779ec4e97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7d90d495a4f945ba" /><Relationship Type="http://schemas.openxmlformats.org/officeDocument/2006/relationships/notesMaster" Target="/ppt/notesMasters/notesMaster1.xml" Id="Rdfabb58aa487436e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62e3d959bd354d6e" /><Relationship Type="http://schemas.openxmlformats.org/officeDocument/2006/relationships/notesMaster" Target="/ppt/notesMasters/notesMaster1.xml" Id="Rfa18271eb4844233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3a59a67e009b4709" /><Relationship Type="http://schemas.openxmlformats.org/officeDocument/2006/relationships/notesMaster" Target="/ppt/notesMasters/notesMaster1.xml" Id="Rbb3cd3fb293a4d20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d18f6b2c6fef45b3" /><Relationship Type="http://schemas.openxmlformats.org/officeDocument/2006/relationships/notesMaster" Target="/ppt/notesMasters/notesMaster1.xml" Id="R339a43ce40ac4dbf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3e4fb19ed5134288" /><Relationship Type="http://schemas.openxmlformats.org/officeDocument/2006/relationships/notesMaster" Target="/ppt/notesMasters/notesMaster1.xml" Id="R3348998a115f4783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bb4d70cd206549b7" /><Relationship Type="http://schemas.openxmlformats.org/officeDocument/2006/relationships/notesMaster" Target="/ppt/notesMasters/notesMaster1.xml" Id="R7905b94b8f684120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95f362dfac444022" /><Relationship Type="http://schemas.openxmlformats.org/officeDocument/2006/relationships/notesMaster" Target="/ppt/notesMasters/notesMaster1.xml" Id="R0f4fde07838b4d6d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来源：项目 README.md、PROJECT_ANALYSIS_REPORT.md；封面指标为项目架构清单。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来源：PROJECT_ANALYSIS_REPORT.md 的架构与能力描述；问题表述为基于项目结构的归纳。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来源：README.md、docs/design、backend/app/orchestration；方案流程为项目能力的演示化表达。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来源：AGENTS.md、PROJECT_ANALYSIS_REPORT.md；系统分层按项目 7 层架构整理。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来源：docs/design/10-agent-execution-layer.md、docs/skill-agent-collaboration.md。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来源：docs/skill-agent-collaboration.md、backend/app/agents/impl/unittest/agent.py；90% 为长文件测试质量目标。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来源：docs/knowledge-quality-design.md、docs/knowledge-quality-evaluation.json；截图：C:/Users/Administrator/AppData/Local/Temp/codex-clipboard-1f5f3722-33ab-4d3d-91a3-35ccb5d34f53.png。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截图来源：C:/Users/Administrator/AppData/Local/Temp/codex-clipboard-f52b6791-b9ab-4c1b-97cd-9e8256781e93.png；C:/Users/Administrator/AppData/Local/Temp/codex-clipboard-734e4d89-a1a9-4d4d-b0b7-1051a60658a3.png。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来源：PROJECT_ANALYSIS_REPORT.md、backend/COMPLETE_IMPLEMENTATION_SUMMARY.md；指标为阶段性报告数据。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来源：README.md、docs/skill-agent-collaboration.md、docs/knowledge-quality-design.md；路线图为参赛演示建议。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f8e97d403fb545cd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994840253b7b494b" /><Relationship Type="http://schemas.openxmlformats.org/officeDocument/2006/relationships/slideLayout" Target="/ppt/slideLayouts/slideLayout1.xml" Id="R4f4a1ddbd05a4891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4f4a1ddbd05a4891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7030373e2c34dd7" /><Relationship Type="http://schemas.openxmlformats.org/officeDocument/2006/relationships/image" Target="/ppt/media/image.png" Id="Rd85af7c6a5eb451e" /><Relationship Type="http://schemas.openxmlformats.org/officeDocument/2006/relationships/notesSlide" Target="/ppt/notesSlides/notesSlide1.xml" Id="R3d3266fd3a374f0f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3134d311906468f" /><Relationship Type="http://schemas.openxmlformats.org/officeDocument/2006/relationships/notesSlide" Target="/ppt/notesSlides/notesSlide2.xml" Id="Rbdd7fd50f9c7445e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4a49e0b89fa42d0" /><Relationship Type="http://schemas.openxmlformats.org/officeDocument/2006/relationships/notesSlide" Target="/ppt/notesSlides/notesSlide3.xml" Id="R4cabd8f4dc1f48f4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d00205d3ba040b9" /><Relationship Type="http://schemas.openxmlformats.org/officeDocument/2006/relationships/notesSlide" Target="/ppt/notesSlides/notesSlide4.xml" Id="R910838bc86304248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b1d9493f60c4ce8" /><Relationship Type="http://schemas.openxmlformats.org/officeDocument/2006/relationships/notesSlide" Target="/ppt/notesSlides/notesSlide5.xml" Id="R6b92e3b186e74c4c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1f0317c1e6a448c" /><Relationship Type="http://schemas.openxmlformats.org/officeDocument/2006/relationships/notesSlide" Target="/ppt/notesSlides/notesSlide6.xml" Id="Rfd5d04e43f304f61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a6bfcc93d8b448d" /><Relationship Type="http://schemas.openxmlformats.org/officeDocument/2006/relationships/image" Target="/ppt/media/image2.png" Id="R45383249264b4bd9" /><Relationship Type="http://schemas.openxmlformats.org/officeDocument/2006/relationships/notesSlide" Target="/ppt/notesSlides/notesSlide7.xml" Id="R6554b88d95e649e5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3479bd9c8d84b1b" /><Relationship Type="http://schemas.openxmlformats.org/officeDocument/2006/relationships/image" Target="/ppt/media/image3.png" Id="Reb1fb97bac0c456e" /><Relationship Type="http://schemas.openxmlformats.org/officeDocument/2006/relationships/image" Target="/ppt/media/image4.png" Id="R76b692c9ff8c4433" /><Relationship Type="http://schemas.openxmlformats.org/officeDocument/2006/relationships/notesSlide" Target="/ppt/notesSlides/notesSlide8.xml" Id="R96b2827fa77440ce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37c0263c90c4f50" /><Relationship Type="http://schemas.openxmlformats.org/officeDocument/2006/relationships/notesSlide" Target="/ppt/notesSlides/notesSlide9.xml" Id="Rbf5eab40134344d3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6e49aabe1c54609" /><Relationship Type="http://schemas.openxmlformats.org/officeDocument/2006/relationships/notesSlide" Target="/ppt/notesSlides/notesSlide10.xml" Id="R4913d81e559e479e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0B1630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10B37685-7684-4DC2-9F26-B5B96DB373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B1630"/>
          </a:solidFill>
          <a:ln xmlns:a="http://schemas.openxmlformats.org/drawingml/2006/main" w="9525">
            <a:solidFill>
              <a:srgbClr val="0B1630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76BAD50-4646-41C4-9432-6E89F5C537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0" y="0"/>
            <a:ext cx="3810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2044"/>
          </a:solidFill>
          <a:ln xmlns:a="http://schemas.openxmlformats.org/drawingml/2006/main" w="9525">
            <a:solidFill>
              <a:srgbClr val="102044"/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41ADC6F-6913-4C4E-A0D4-8EBD21B6BA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742950"/>
            <a:ext cx="4953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200" b="1">
                <a:solidFill>
                  <a:srgbClr val="8FB3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>
                <a:solidFill>
                  <a:srgbClr val="8FB3FF"/>
                </a:solidFill>
                <a:latin typeface="Microsoft YaHei"/>
                <a:ea typeface="Microsoft YaHei"/>
                <a:cs typeface="Microsoft YaHei"/>
              </a:rPr>
              <a:t>MACODE  ·  FW AI AGENT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FDE26E3-8171-4B98-BC70-CA93104A73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1381125"/>
            <a:ext cx="6191250" cy="1190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34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4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让固件开发\n进入可验证的智能协作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9EB45B8-F294-4761-843A-0A2EC7482F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2781300"/>
            <a:ext cx="485775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800" b="0">
                <a:solidFill>
                  <a:srgbClr val="BFD0F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0">
                <a:solidFill>
                  <a:srgbClr val="BFD0F5"/>
                </a:solidFill>
                <a:latin typeface="Microsoft YaHei"/>
                <a:ea typeface="Microsoft YaHei"/>
                <a:cs typeface="Microsoft YaHei"/>
              </a:rPr>
              <a:t>面向固件研发的多智能体 AI 工作台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8222796-C45A-4297-A40F-906413E27F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3676650"/>
            <a:ext cx="1600200" cy="2857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1A2E5A"/>
          </a:solidFill>
          <a:ln xmlns:a="http://schemas.openxmlformats.org/drawingml/2006/main" w="9525">
            <a:solidFill>
              <a:srgbClr val="1A2E5A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2A1F843-D121-4863-80F5-7D106F03E8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3733800"/>
            <a:ext cx="16002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9324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0000"/>
              </a:lnSpc>
              <a:buNone/>
              <a:defRPr sz="975" b="1">
                <a:solidFill>
                  <a:srgbClr val="A9C4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1">
                <a:solidFill>
                  <a:srgbClr val="A9C4FF"/>
                </a:solidFill>
                <a:latin typeface="Microsoft YaHei"/>
                <a:ea typeface="Microsoft YaHei"/>
                <a:cs typeface="Microsoft YaHei"/>
              </a:rPr>
              <a:t>7 个专业 Agent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C530E302-EC98-4527-B469-3EAF252918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57450" y="3676650"/>
            <a:ext cx="1600200" cy="2857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1A2E5A"/>
          </a:solidFill>
          <a:ln xmlns:a="http://schemas.openxmlformats.org/drawingml/2006/main" w="9525">
            <a:solidFill>
              <a:srgbClr val="1A2E5A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5B545CA9-4668-4F3D-917A-785D82959F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57450" y="3733800"/>
            <a:ext cx="16002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9324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0000"/>
              </a:lnSpc>
              <a:buNone/>
              <a:defRPr sz="975" b="1">
                <a:solidFill>
                  <a:srgbClr val="A9C4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1">
                <a:solidFill>
                  <a:srgbClr val="A9C4FF"/>
                </a:solidFill>
                <a:latin typeface="Microsoft YaHei"/>
                <a:ea typeface="Microsoft YaHei"/>
                <a:cs typeface="Microsoft YaHei"/>
              </a:rPr>
              <a:t>6 个 LLM Provider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3361F549-396A-4D5B-81DC-0BB6606A7A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71950" y="3676650"/>
            <a:ext cx="1600200" cy="2857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1A2E5A"/>
          </a:solidFill>
          <a:ln xmlns:a="http://schemas.openxmlformats.org/drawingml/2006/main" w="9525">
            <a:solidFill>
              <a:srgbClr val="1A2E5A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9828785C-65A9-4583-AA1E-5D8EC74694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71950" y="3733800"/>
            <a:ext cx="16002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9324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0000"/>
              </a:lnSpc>
              <a:buNone/>
              <a:defRPr sz="975" b="1">
                <a:solidFill>
                  <a:srgbClr val="A9C4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1">
                <a:solidFill>
                  <a:srgbClr val="A9C4FF"/>
                </a:solidFill>
                <a:latin typeface="Microsoft YaHei"/>
                <a:ea typeface="Microsoft YaHei"/>
                <a:cs typeface="Microsoft YaHei"/>
              </a:rPr>
              <a:t>4 个 MCP Server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9236992D-928F-4E39-A395-C0E6E45977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5657850"/>
            <a:ext cx="5143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200" b="0">
                <a:solidFill>
                  <a:srgbClr val="90A6D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90A6D2"/>
                </a:solidFill>
                <a:latin typeface="Microsoft YaHei"/>
                <a:ea typeface="Microsoft YaHei"/>
                <a:cs typeface="Microsoft YaHei"/>
              </a:rPr>
              <a:t>AI 大赛参赛方案  ·  2026</a:t>
            </a:r>
          </a:p>
        </p:txBody>
      </p:sp>
      <p:pic>
        <p:nvPicPr>
          <p:cNvPr id="31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d85af7c6a5eb451e"/>
          <a:srcRect xmlns:a="http://schemas.openxmlformats.org/drawingml/2006/main" l="11413" t="0" r="11413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7524750" y="895350"/>
            <a:ext cx="3905250" cy="2571750"/>
          </a:xfrm>
          <a:prstGeom xmlns:a="http://schemas.openxmlformats.org/drawingml/2006/main" prst="roundRect">
            <a:avLst>
              <a:gd name="adj" fmla="val 6667"/>
            </a:avLst>
          </a:prstGeom>
        </p:spPr>
      </p:pic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0D8AEF70-A628-4E3C-BE7B-46876F9887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62800" y="3714750"/>
            <a:ext cx="4267200" cy="1828800"/>
          </a:xfrm>
          <a:prstGeom xmlns:a="http://schemas.openxmlformats.org/drawingml/2006/main" prst="roundRect">
            <a:avLst>
              <a:gd name="adj" fmla="val 9375"/>
            </a:avLst>
          </a:prstGeom>
          <a:solidFill xmlns:a="http://schemas.openxmlformats.org/drawingml/2006/main">
            <a:srgbClr val="142B56"/>
          </a:solidFill>
          <a:ln xmlns:a="http://schemas.openxmlformats.org/drawingml/2006/main" w="9525">
            <a:solidFill>
              <a:srgbClr val="2E4C83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CD503D66-DF0C-467E-AEF9-EE57CC178E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77125" y="4019550"/>
            <a:ext cx="3429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89532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6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从需求到验证，一条闭环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ECE46A65-D852-4109-8BD7-1DABF47CB6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77125" y="4419600"/>
            <a:ext cx="32385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725" b="1">
                <a:solidFill>
                  <a:srgbClr val="8FB3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1">
                <a:solidFill>
                  <a:srgbClr val="8FB3FF"/>
                </a:solidFill>
                <a:latin typeface="Microsoft YaHei"/>
                <a:ea typeface="Microsoft YaHei"/>
                <a:cs typeface="Microsoft YaHei"/>
              </a:rPr>
              <a:t>Chat  →  Agent  →  Tool  →  Artifact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8B6F2AC0-69B4-4B01-8E0E-4A9334CEC3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77125" y="5181600"/>
            <a:ext cx="3333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125" b="0">
                <a:solidFill>
                  <a:srgbClr val="BFD0F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>
                <a:solidFill>
                  <a:srgbClr val="BFD0F5"/>
                </a:solidFill>
                <a:latin typeface="Microsoft YaHei"/>
                <a:ea typeface="Microsoft YaHei"/>
                <a:cs typeface="Microsoft YaHei"/>
              </a:rPr>
              <a:t>代码、测试、知识与审查结果统一沉淀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118712B8-A0C9-4BDD-BA5A-6557ABE65B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6496050"/>
            <a:ext cx="10477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900" b="0">
                <a:solidFill>
                  <a:srgbClr val="7991B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0">
                <a:solidFill>
                  <a:srgbClr val="7991BE"/>
                </a:solidFill>
                <a:latin typeface="Microsoft YaHei"/>
                <a:ea typeface="Microsoft YaHei"/>
                <a:cs typeface="Microsoft YaHei"/>
              </a:rPr>
              <a:t>Macode Firmware Development Agent</a:t>
            </a:r>
          </a:p>
        </p:txBody>
      </p:sp>
    </p:spTree>
    <p:extLst>
      <p:ext uri="{BB962C8B-B14F-4D97-AF65-F5344CB8AC3E}">
        <p14:creationId xmlns:p14="http://schemas.microsoft.com/office/powerpoint/2010/main" val="1435939860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5F8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72699025-FCBA-4BEE-9DF8-3F686B1D30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1950"/>
            <a:ext cx="10953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050" b="1">
                <a:solidFill>
                  <a:srgbClr val="2F6B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1">
                <a:solidFill>
                  <a:srgbClr val="2F6BFF"/>
                </a:solidFill>
                <a:latin typeface="Microsoft YaHei"/>
                <a:ea typeface="Microsoft YaHei"/>
                <a:cs typeface="Microsoft YaHei"/>
              </a:rPr>
              <a:t>01 研发痛点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5B76965-FDFF-4571-B474-8316C77049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7700"/>
            <a:ext cx="109537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2550" b="1">
                <a:solidFill>
                  <a:srgbClr val="0B163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550" b="1">
                <a:solidFill>
                  <a:srgbClr val="0B1630"/>
                </a:solidFill>
                <a:latin typeface="Microsoft YaHei"/>
                <a:ea typeface="Microsoft YaHei"/>
                <a:cs typeface="Microsoft YaHei"/>
              </a:rPr>
              <a:t>固件研发的复杂度，集中在“验证”而不是“生成”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2F6332E-1215-4135-B055-15A56C41E7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238250"/>
            <a:ext cx="10572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275" b="0">
                <a:solidFill>
                  <a:srgbClr val="66758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66758F"/>
                </a:solidFill>
                <a:latin typeface="Microsoft YaHei"/>
                <a:ea typeface="Microsoft YaHei"/>
                <a:cs typeface="Microsoft YaHei"/>
              </a:rPr>
              <a:t>需求、代码、工具链与知识分散，导致每次交付都重复走一遍人工路径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1D219AB-9A82-4553-9954-7597FDB1AA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000250"/>
            <a:ext cx="3333750" cy="2190750"/>
          </a:xfrm>
          <a:prstGeom xmlns:a="http://schemas.openxmlformats.org/drawingml/2006/main" prst="roundRect">
            <a:avLst>
              <a:gd name="adj" fmla="val 695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E2F0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824F9F9-1461-4752-97B1-A81601CE22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2247900"/>
            <a:ext cx="457200" cy="457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F6BFF"/>
          </a:solidFill>
          <a:ln xmlns:a="http://schemas.openxmlformats.org/drawingml/2006/main" w="9525">
            <a:solidFill>
              <a:srgbClr val="2F6BFF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6124ACC-A7DD-4887-9763-00E2C553B7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2371725"/>
            <a:ext cx="4572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83333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0000"/>
              </a:lnSpc>
              <a:buNone/>
              <a:defRPr sz="15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1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B0F1352-74C5-4CF9-A236-66682ED098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2933700"/>
            <a:ext cx="27622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800" b="1">
                <a:solidFill>
                  <a:srgbClr val="0B163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1">
                <a:solidFill>
                  <a:srgbClr val="0B1630"/>
                </a:solidFill>
                <a:latin typeface="Microsoft YaHei"/>
                <a:ea typeface="Microsoft YaHei"/>
                <a:cs typeface="Microsoft YaHei"/>
              </a:rPr>
              <a:t>上下文分散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3EDFAD4E-DA7B-4CBC-BF17-8B18F583A0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3352800"/>
            <a:ext cx="27813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84423"/>
          </a:bodyPr>
          <a:lstStyle xmlns:a="http://schemas.openxmlformats.org/drawingml/2006/main"/>
          <a:p xmlns:a="http://schemas.openxmlformats.org/drawingml/2006/main">
            <a:pPr algn="l">
              <a:lnSpc>
                <a:spcPct val="120000"/>
              </a:lnSpc>
              <a:buNone/>
              <a:defRPr sz="1275" b="0">
                <a:solidFill>
                  <a:srgbClr val="66758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66758F"/>
                </a:solidFill>
                <a:latin typeface="Microsoft YaHei"/>
                <a:ea typeface="Microsoft YaHei"/>
                <a:cs typeface="Microsoft YaHei"/>
              </a:rPr>
              <a:t>需求在 Jira，寄存器在手册，代码在仓库，验证结果在日志里。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83AB071F-E1FB-40AC-97F0-3FB7498845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0" y="2000250"/>
            <a:ext cx="3333750" cy="2190750"/>
          </a:xfrm>
          <a:prstGeom xmlns:a="http://schemas.openxmlformats.org/drawingml/2006/main" prst="roundRect">
            <a:avLst>
              <a:gd name="adj" fmla="val 695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E2F0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A973B63E-2CBF-4E94-91FB-45A2AD1B2D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10100" y="2247900"/>
            <a:ext cx="457200" cy="457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59E0B"/>
          </a:solidFill>
          <a:ln xmlns:a="http://schemas.openxmlformats.org/drawingml/2006/main" w="9525">
            <a:solidFill>
              <a:srgbClr val="F59E0B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4E8F9B5D-987B-4C77-B04F-1DF9F07207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10100" y="2371725"/>
            <a:ext cx="4572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83333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0000"/>
              </a:lnSpc>
              <a:buNone/>
              <a:defRPr sz="15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2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E7E68A1F-196E-41EE-A1A1-C2322D5876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10100" y="2933700"/>
            <a:ext cx="27622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800" b="1">
                <a:solidFill>
                  <a:srgbClr val="0B163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1">
                <a:solidFill>
                  <a:srgbClr val="0B1630"/>
                </a:solidFill>
                <a:latin typeface="Microsoft YaHei"/>
                <a:ea typeface="Microsoft YaHei"/>
                <a:cs typeface="Microsoft YaHei"/>
              </a:rPr>
              <a:t>工具链割裂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E3E8E6FF-46C0-4D6D-A44C-C893C75838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10100" y="3352800"/>
            <a:ext cx="27813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20000"/>
              </a:lnSpc>
              <a:buNone/>
              <a:defRPr sz="1275" b="0">
                <a:solidFill>
                  <a:srgbClr val="66758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66758F"/>
                </a:solidFill>
                <a:latin typeface="Microsoft YaHei"/>
                <a:ea typeface="Microsoft YaHei"/>
                <a:cs typeface="Microsoft YaHei"/>
              </a:rPr>
              <a:t>编译、测试、仿真、代码审查由不同工具承担，问题定位依赖个人经验。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17DE48DC-EC60-4657-8F31-27EC292924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2000250"/>
            <a:ext cx="3333750" cy="2190750"/>
          </a:xfrm>
          <a:prstGeom xmlns:a="http://schemas.openxmlformats.org/drawingml/2006/main" prst="roundRect">
            <a:avLst>
              <a:gd name="adj" fmla="val 695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E2F0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BB7B82FE-C7A1-45CE-8BD4-F61F2E950C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24850" y="2247900"/>
            <a:ext cx="457200" cy="457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7A5AF8"/>
          </a:solidFill>
          <a:ln xmlns:a="http://schemas.openxmlformats.org/drawingml/2006/main" w="9525">
            <a:solidFill>
              <a:srgbClr val="7A5AF8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FBB8BCD9-554D-441D-99C7-E5BC772D1B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24850" y="2371725"/>
            <a:ext cx="4572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83333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0000"/>
              </a:lnSpc>
              <a:buNone/>
              <a:defRPr sz="15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3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4003E871-A675-411A-921C-DA6FF9E015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24850" y="2933700"/>
            <a:ext cx="27622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800" b="1">
                <a:solidFill>
                  <a:srgbClr val="0B163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1">
                <a:solidFill>
                  <a:srgbClr val="0B1630"/>
                </a:solidFill>
                <a:latin typeface="Microsoft YaHei"/>
                <a:ea typeface="Microsoft YaHei"/>
                <a:cs typeface="Microsoft YaHei"/>
              </a:rPr>
              <a:t>交付难复用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9FC685E5-413A-4489-8F09-D818B16D57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24850" y="3352800"/>
            <a:ext cx="27813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20000"/>
              </a:lnSpc>
              <a:buNone/>
              <a:defRPr sz="1275" b="0">
                <a:solidFill>
                  <a:srgbClr val="66758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66758F"/>
                </a:solidFill>
                <a:latin typeface="Microsoft YaHei"/>
                <a:ea typeface="Microsoft YaHei"/>
                <a:cs typeface="Microsoft YaHei"/>
              </a:rPr>
              <a:t>一次解决方案没有形成可检索知识，下一次仍从零开始。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41A546FA-335A-4A19-8964-D0C122D7BF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686300"/>
            <a:ext cx="10763250" cy="1066800"/>
          </a:xfrm>
          <a:prstGeom xmlns:a="http://schemas.openxmlformats.org/drawingml/2006/main" prst="roundRect">
            <a:avLst>
              <a:gd name="adj" fmla="val 17857"/>
            </a:avLst>
          </a:prstGeom>
          <a:solidFill xmlns:a="http://schemas.openxmlformats.org/drawingml/2006/main">
            <a:srgbClr val="0B1630"/>
          </a:solidFill>
          <a:ln xmlns:a="http://schemas.openxmlformats.org/drawingml/2006/main" w="9525">
            <a:solidFill>
              <a:srgbClr val="0B1630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14EE632C-41C2-4E58-8C51-FD4FBD66F1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4953000"/>
            <a:ext cx="2286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125" b="1">
                <a:solidFill>
                  <a:srgbClr val="94B4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1">
                <a:solidFill>
                  <a:srgbClr val="94B4FF"/>
                </a:solidFill>
                <a:latin typeface="Microsoft YaHei"/>
                <a:ea typeface="Microsoft YaHei"/>
                <a:cs typeface="Microsoft YaHei"/>
              </a:rPr>
              <a:t>关键机会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4455366F-185F-4C7F-9016-B370692BA1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5248275"/>
            <a:ext cx="9810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90909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87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把“经验驱动的串行流程”变成“Agent 驱动的可追溯闭环”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3B6A7A47-189A-429B-87A1-19692DCF2D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9605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9E2F0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226A883B-141E-4A45-BA7B-9B02F91B42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72250"/>
            <a:ext cx="85725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825" b="0">
                <a:solidFill>
                  <a:srgbClr val="66758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825" b="0">
                <a:solidFill>
                  <a:srgbClr val="66758F"/>
                </a:solidFill>
                <a:latin typeface="Microsoft YaHei"/>
                <a:ea typeface="Microsoft YaHei"/>
                <a:cs typeface="Microsoft YaHei"/>
              </a:rPr>
              <a:t>MACODE FW AI AGENT  ·  AI 竞赛方案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4F4800A8-8AB4-4E3F-B4C8-AF65019519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572250"/>
            <a:ext cx="43815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10000"/>
              </a:lnSpc>
              <a:buNone/>
              <a:defRPr sz="825" b="1">
                <a:solidFill>
                  <a:srgbClr val="66758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825" b="1">
                <a:solidFill>
                  <a:srgbClr val="66758F"/>
                </a:solidFill>
                <a:latin typeface="Microsoft YaHei"/>
                <a:ea typeface="Microsoft YaHei"/>
                <a:cs typeface="Microsoft YaHei"/>
              </a:rPr>
              <a:t>02</a:t>
            </a:r>
          </a:p>
        </p:txBody>
      </p:sp>
    </p:spTree>
    <p:extLst>
      <p:ext uri="{BB962C8B-B14F-4D97-AF65-F5344CB8AC3E}">
        <p14:creationId xmlns:p14="http://schemas.microsoft.com/office/powerpoint/2010/main" val="1405457034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F23E73BD-3A5E-4C8B-A03D-5C86ED2071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1950"/>
            <a:ext cx="10953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050" b="1">
                <a:solidFill>
                  <a:srgbClr val="2F6B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1">
                <a:solidFill>
                  <a:srgbClr val="2F6BFF"/>
                </a:solidFill>
                <a:latin typeface="Microsoft YaHei"/>
                <a:ea typeface="Microsoft YaHei"/>
                <a:cs typeface="Microsoft YaHei"/>
              </a:rPr>
              <a:t>02 核心方案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5239BAC-2FBE-4942-B01E-6E47CFB6C7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7700"/>
            <a:ext cx="109537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2550" b="1">
                <a:solidFill>
                  <a:srgbClr val="0B163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550" b="1">
                <a:solidFill>
                  <a:srgbClr val="0B1630"/>
                </a:solidFill>
                <a:latin typeface="Microsoft YaHei"/>
                <a:ea typeface="Microsoft YaHei"/>
                <a:cs typeface="Microsoft YaHei"/>
              </a:rPr>
              <a:t>一个工作台，连接需求、智能体、工具与证据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F594333-F506-42AD-8379-AD02BA123A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238250"/>
            <a:ext cx="10572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275" b="0">
                <a:solidFill>
                  <a:srgbClr val="66758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66758F"/>
                </a:solidFill>
                <a:latin typeface="Microsoft YaHei"/>
                <a:ea typeface="Microsoft YaHei"/>
                <a:cs typeface="Microsoft YaHei"/>
              </a:rPr>
              <a:t>以任务为中心组织研发上下文，让每次输出都带着验证记录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37FE8EF-EE75-49F8-9B54-A34F6D1FE2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247900"/>
            <a:ext cx="1809750" cy="1619250"/>
          </a:xfrm>
          <a:prstGeom xmlns:a="http://schemas.openxmlformats.org/drawingml/2006/main" prst="roundRect">
            <a:avLst>
              <a:gd name="adj" fmla="val 12941"/>
            </a:avLst>
          </a:prstGeom>
          <a:solidFill xmlns:a="http://schemas.openxmlformats.org/drawingml/2006/main">
            <a:srgbClr val="EAF1FF"/>
          </a:solidFill>
          <a:ln xmlns:a="http://schemas.openxmlformats.org/drawingml/2006/main" w="9525">
            <a:solidFill>
              <a:srgbClr val="2F6BFF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30C059C-DE81-47F1-A05B-6F48194890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2457450"/>
            <a:ext cx="400050" cy="400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F6BFF"/>
          </a:solidFill>
          <a:ln xmlns:a="http://schemas.openxmlformats.org/drawingml/2006/main" w="9525">
            <a:solidFill>
              <a:srgbClr val="2F6BFF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B5E07AA-47DC-4A52-ADDF-E52AA8814B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2562225"/>
            <a:ext cx="4000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84175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0000"/>
              </a:lnSpc>
              <a:buNone/>
              <a:defRPr sz="13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1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902A298-5B7C-4F3A-B60B-799EC3AB04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3048000"/>
            <a:ext cx="1428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82645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650" b="1">
                <a:solidFill>
                  <a:srgbClr val="0B163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0B1630"/>
                </a:solidFill>
                <a:latin typeface="Microsoft YaHei"/>
                <a:ea typeface="Microsoft YaHei"/>
                <a:cs typeface="Microsoft YaHei"/>
              </a:rPr>
              <a:t>输入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FA95C96-058B-463B-99F2-0CECA45DB8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3371850"/>
            <a:ext cx="14287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95486"/>
          </a:bodyPr>
          <a:lstStyle xmlns:a="http://schemas.openxmlformats.org/drawingml/2006/main"/>
          <a:p xmlns:a="http://schemas.openxmlformats.org/drawingml/2006/main">
            <a:pPr algn="l">
              <a:lnSpc>
                <a:spcPct val="120000"/>
              </a:lnSpc>
              <a:buNone/>
              <a:defRPr sz="1200" b="0">
                <a:solidFill>
                  <a:srgbClr val="66758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66758F"/>
                </a:solidFill>
                <a:latin typeface="Microsoft YaHei"/>
                <a:ea typeface="Microsoft YaHei"/>
                <a:cs typeface="Microsoft YaHei"/>
              </a:rPr>
              <a:t>自然语言需求\n代码 / 日志 / 文档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D3ACD6C4-E573-459D-B845-A7E52DD154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14600" y="2819400"/>
            <a:ext cx="3429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81169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0000"/>
              </a:lnSpc>
              <a:buNone/>
              <a:defRPr sz="2100" b="1">
                <a:solidFill>
                  <a:srgbClr val="2F6B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1">
                <a:solidFill>
                  <a:srgbClr val="2F6BFF"/>
                </a:solidFill>
                <a:latin typeface="Microsoft YaHei"/>
                <a:ea typeface="Microsoft YaHei"/>
                <a:cs typeface="Microsoft YaHei"/>
              </a:rPr>
              <a:t>→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468E6283-571F-4A5B-B003-E4F462AF9D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76550" y="2247900"/>
            <a:ext cx="1809750" cy="1619250"/>
          </a:xfrm>
          <a:prstGeom xmlns:a="http://schemas.openxmlformats.org/drawingml/2006/main" prst="roundRect">
            <a:avLst>
              <a:gd name="adj" fmla="val 12941"/>
            </a:avLst>
          </a:prstGeom>
          <a:solidFill xmlns:a="http://schemas.openxmlformats.org/drawingml/2006/main">
            <a:srgbClr val="F1EDFF"/>
          </a:solidFill>
          <a:ln xmlns:a="http://schemas.openxmlformats.org/drawingml/2006/main" w="9525">
            <a:solidFill>
              <a:srgbClr val="7A5AF8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B10FD245-48AE-498C-A46D-AEF514DB3C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67050" y="2457450"/>
            <a:ext cx="400050" cy="400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7A5AF8"/>
          </a:solidFill>
          <a:ln xmlns:a="http://schemas.openxmlformats.org/drawingml/2006/main" w="9525">
            <a:solidFill>
              <a:srgbClr val="7A5AF8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E4E4681C-F90F-4008-A517-D7AE126F4F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67050" y="2562225"/>
            <a:ext cx="4000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84175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0000"/>
              </a:lnSpc>
              <a:buNone/>
              <a:defRPr sz="13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2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7519B8A5-B23F-4649-A1C6-1234F16BCC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67050" y="3048000"/>
            <a:ext cx="1428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82645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650" b="1">
                <a:solidFill>
                  <a:srgbClr val="0B163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0B1630"/>
                </a:solidFill>
                <a:latin typeface="Microsoft YaHei"/>
                <a:ea typeface="Microsoft YaHei"/>
                <a:cs typeface="Microsoft YaHei"/>
              </a:rPr>
              <a:t>理解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32E072B9-FE0A-4ECA-A05A-CDF28D0709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67050" y="3371850"/>
            <a:ext cx="14287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95486"/>
          </a:bodyPr>
          <a:lstStyle xmlns:a="http://schemas.openxmlformats.org/drawingml/2006/main"/>
          <a:p xmlns:a="http://schemas.openxmlformats.org/drawingml/2006/main">
            <a:pPr algn="l">
              <a:lnSpc>
                <a:spcPct val="120000"/>
              </a:lnSpc>
              <a:buNone/>
              <a:defRPr sz="1200" b="0">
                <a:solidFill>
                  <a:srgbClr val="66758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66758F"/>
                </a:solidFill>
                <a:latin typeface="Microsoft YaHei"/>
                <a:ea typeface="Microsoft YaHei"/>
                <a:cs typeface="Microsoft YaHei"/>
              </a:rPr>
              <a:t>意图识别\n上下文拼装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7F3D1663-251A-44A1-9A7C-582F1D8CBC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24400" y="2819400"/>
            <a:ext cx="3429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81169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0000"/>
              </a:lnSpc>
              <a:buNone/>
              <a:defRPr sz="2100" b="1">
                <a:solidFill>
                  <a:srgbClr val="7A5AF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1">
                <a:solidFill>
                  <a:srgbClr val="7A5AF8"/>
                </a:solidFill>
                <a:latin typeface="Microsoft YaHei"/>
                <a:ea typeface="Microsoft YaHei"/>
                <a:cs typeface="Microsoft YaHei"/>
              </a:rPr>
              <a:t>→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62E039DD-6B77-4A7E-9CED-F6DB45C955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86350" y="2247900"/>
            <a:ext cx="1809750" cy="1619250"/>
          </a:xfrm>
          <a:prstGeom xmlns:a="http://schemas.openxmlformats.org/drawingml/2006/main" prst="roundRect">
            <a:avLst>
              <a:gd name="adj" fmla="val 12941"/>
            </a:avLst>
          </a:prstGeom>
          <a:solidFill xmlns:a="http://schemas.openxmlformats.org/drawingml/2006/main">
            <a:srgbClr val="E7FAFC"/>
          </a:solidFill>
          <a:ln xmlns:a="http://schemas.openxmlformats.org/drawingml/2006/main" w="9525">
            <a:solidFill>
              <a:srgbClr val="19B8D4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24E55DB4-8D7C-43ED-9735-50B750A30B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76850" y="2457450"/>
            <a:ext cx="400050" cy="400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9B8D4"/>
          </a:solidFill>
          <a:ln xmlns:a="http://schemas.openxmlformats.org/drawingml/2006/main" w="9525">
            <a:solidFill>
              <a:srgbClr val="19B8D4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42504BF4-6867-49EE-B929-6970EF1BCF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76850" y="2562225"/>
            <a:ext cx="4000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84175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0000"/>
              </a:lnSpc>
              <a:buNone/>
              <a:defRPr sz="13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3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ADA0C064-D382-41F8-9720-A1C4115F75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76850" y="3048000"/>
            <a:ext cx="1428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82645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650" b="1">
                <a:solidFill>
                  <a:srgbClr val="0B163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0B1630"/>
                </a:solidFill>
                <a:latin typeface="Microsoft YaHei"/>
                <a:ea typeface="Microsoft YaHei"/>
                <a:cs typeface="Microsoft YaHei"/>
              </a:rPr>
              <a:t>执行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5F1733DF-F3CA-4EB9-9F7C-BD9456B364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76850" y="3371850"/>
            <a:ext cx="14287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95486"/>
          </a:bodyPr>
          <a:lstStyle xmlns:a="http://schemas.openxmlformats.org/drawingml/2006/main"/>
          <a:p xmlns:a="http://schemas.openxmlformats.org/drawingml/2006/main">
            <a:pPr algn="l">
              <a:lnSpc>
                <a:spcPct val="120000"/>
              </a:lnSpc>
              <a:buNone/>
              <a:defRPr sz="1200" b="0">
                <a:solidFill>
                  <a:srgbClr val="66758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66758F"/>
                </a:solidFill>
                <a:latin typeface="Microsoft YaHei"/>
                <a:ea typeface="Microsoft YaHei"/>
                <a:cs typeface="Microsoft YaHei"/>
              </a:rPr>
              <a:t>专业 Agent\nMCP 工具调用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623780FC-1D21-4681-A6D3-FEE42C1A58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34200" y="2819400"/>
            <a:ext cx="3429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81169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0000"/>
              </a:lnSpc>
              <a:buNone/>
              <a:defRPr sz="2100" b="1">
                <a:solidFill>
                  <a:srgbClr val="19B8D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1">
                <a:solidFill>
                  <a:srgbClr val="19B8D4"/>
                </a:solidFill>
                <a:latin typeface="Microsoft YaHei"/>
                <a:ea typeface="Microsoft YaHei"/>
                <a:cs typeface="Microsoft YaHei"/>
              </a:rPr>
              <a:t>→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AEBCCC25-239D-4236-9099-EE11FE9C38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96150" y="2247900"/>
            <a:ext cx="1809750" cy="1619250"/>
          </a:xfrm>
          <a:prstGeom xmlns:a="http://schemas.openxmlformats.org/drawingml/2006/main" prst="roundRect">
            <a:avLst>
              <a:gd name="adj" fmla="val 12941"/>
            </a:avLst>
          </a:prstGeom>
          <a:solidFill xmlns:a="http://schemas.openxmlformats.org/drawingml/2006/main">
            <a:srgbClr val="E8F8F1"/>
          </a:solidFill>
          <a:ln xmlns:a="http://schemas.openxmlformats.org/drawingml/2006/main" w="9525">
            <a:solidFill>
              <a:srgbClr val="17A673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9610CC2A-8CD8-4890-92AC-C7CBEBD84F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86650" y="2457450"/>
            <a:ext cx="400050" cy="400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7A673"/>
          </a:solidFill>
          <a:ln xmlns:a="http://schemas.openxmlformats.org/drawingml/2006/main" w="9525">
            <a:solidFill>
              <a:srgbClr val="17A673"/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7170320D-4494-4451-BECB-891689CEEB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86650" y="2562225"/>
            <a:ext cx="4000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84175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0000"/>
              </a:lnSpc>
              <a:buNone/>
              <a:defRPr sz="13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4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C471A2B4-21B8-49B8-9EAF-174EB25D97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86650" y="3048000"/>
            <a:ext cx="1428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82645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650" b="1">
                <a:solidFill>
                  <a:srgbClr val="0B163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0B1630"/>
                </a:solidFill>
                <a:latin typeface="Microsoft YaHei"/>
                <a:ea typeface="Microsoft YaHei"/>
                <a:cs typeface="Microsoft YaHei"/>
              </a:rPr>
              <a:t>验证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0468DC82-C29F-42C2-9D09-07145A88EA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86650" y="3371850"/>
            <a:ext cx="14287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95486"/>
          </a:bodyPr>
          <a:lstStyle xmlns:a="http://schemas.openxmlformats.org/drawingml/2006/main"/>
          <a:p xmlns:a="http://schemas.openxmlformats.org/drawingml/2006/main">
            <a:pPr algn="l">
              <a:lnSpc>
                <a:spcPct val="120000"/>
              </a:lnSpc>
              <a:buNone/>
              <a:defRPr sz="1200" b="0">
                <a:solidFill>
                  <a:srgbClr val="66758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66758F"/>
                </a:solidFill>
                <a:latin typeface="Microsoft YaHei"/>
                <a:ea typeface="Microsoft YaHei"/>
                <a:cs typeface="Microsoft YaHei"/>
              </a:rPr>
              <a:t>编译 · 测试\n覆盖率 · 审查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FC2896C1-3320-4E90-8257-516AF48808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0" y="2819400"/>
            <a:ext cx="3429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81169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0000"/>
              </a:lnSpc>
              <a:buNone/>
              <a:defRPr sz="2100" b="1">
                <a:solidFill>
                  <a:srgbClr val="17A67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1">
                <a:solidFill>
                  <a:srgbClr val="17A673"/>
                </a:solidFill>
                <a:latin typeface="Microsoft YaHei"/>
                <a:ea typeface="Microsoft YaHei"/>
                <a:cs typeface="Microsoft YaHei"/>
              </a:rPr>
              <a:t>→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503E0A15-CDCE-4295-A5CD-3B27C4A49A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05950" y="2247900"/>
            <a:ext cx="1809750" cy="1619250"/>
          </a:xfrm>
          <a:prstGeom xmlns:a="http://schemas.openxmlformats.org/drawingml/2006/main" prst="roundRect">
            <a:avLst>
              <a:gd name="adj" fmla="val 12941"/>
            </a:avLst>
          </a:prstGeom>
          <a:solidFill xmlns:a="http://schemas.openxmlformats.org/drawingml/2006/main">
            <a:srgbClr val="FFF5DE"/>
          </a:solidFill>
          <a:ln xmlns:a="http://schemas.openxmlformats.org/drawingml/2006/main" w="9525">
            <a:solidFill>
              <a:srgbClr val="F59E0B"/>
            </a:solidFill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AE5C9B3E-4C3B-46E6-94DF-B60C06BD37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96450" y="2457450"/>
            <a:ext cx="400050" cy="400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59E0B"/>
          </a:solidFill>
          <a:ln xmlns:a="http://schemas.openxmlformats.org/drawingml/2006/main" w="9525">
            <a:solidFill>
              <a:srgbClr val="F59E0B"/>
            </a:solidFill>
            <a:prstDash val="solid"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3B926D46-AA6A-4184-8B56-8D9864769F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96450" y="2562225"/>
            <a:ext cx="4000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84175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0000"/>
              </a:lnSpc>
              <a:buNone/>
              <a:defRPr sz="13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5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29730B00-DBEF-4E65-924B-8748F315DF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96450" y="3048000"/>
            <a:ext cx="1428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82645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650" b="1">
                <a:solidFill>
                  <a:srgbClr val="0B163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0B1630"/>
                </a:solidFill>
                <a:latin typeface="Microsoft YaHei"/>
                <a:ea typeface="Microsoft YaHei"/>
                <a:cs typeface="Microsoft YaHei"/>
              </a:rPr>
              <a:t>沉淀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08EAFFB7-9A82-4E8B-98A8-F6E91163D6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96450" y="3371850"/>
            <a:ext cx="14287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95486"/>
          </a:bodyPr>
          <a:lstStyle xmlns:a="http://schemas.openxmlformats.org/drawingml/2006/main"/>
          <a:p xmlns:a="http://schemas.openxmlformats.org/drawingml/2006/main">
            <a:pPr algn="l">
              <a:lnSpc>
                <a:spcPct val="120000"/>
              </a:lnSpc>
              <a:buNone/>
              <a:defRPr sz="1200" b="0">
                <a:solidFill>
                  <a:srgbClr val="66758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66758F"/>
                </a:solidFill>
                <a:latin typeface="Microsoft YaHei"/>
                <a:ea typeface="Microsoft YaHei"/>
                <a:cs typeface="Microsoft YaHei"/>
              </a:rPr>
              <a:t>产物归档\n知识可检索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66BEF64A-DBCA-46AB-98F3-A8312E3198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457700"/>
            <a:ext cx="10763250" cy="1162050"/>
          </a:xfrm>
          <a:prstGeom xmlns:a="http://schemas.openxmlformats.org/drawingml/2006/main" prst="roundRect">
            <a:avLst>
              <a:gd name="adj" fmla="val 18033"/>
            </a:avLst>
          </a:prstGeom>
          <a:solidFill xmlns:a="http://schemas.openxmlformats.org/drawingml/2006/main">
            <a:srgbClr val="0F2044"/>
          </a:solidFill>
          <a:ln xmlns:a="http://schemas.openxmlformats.org/drawingml/2006/main" w="9525">
            <a:solidFill>
              <a:srgbClr val="0F2044"/>
            </a:solidFill>
            <a:prstDash val="solid"/>
          </a:ln>
        </p:spPr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1836724A-C812-46DE-A039-DE0B9ECF08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4733925"/>
            <a:ext cx="9334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125" b="1">
                <a:solidFill>
                  <a:srgbClr val="8FB3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1">
                <a:solidFill>
                  <a:srgbClr val="8FB3FF"/>
                </a:solidFill>
                <a:latin typeface="Microsoft YaHei"/>
                <a:ea typeface="Microsoft YaHei"/>
                <a:cs typeface="Microsoft YaHei"/>
              </a:rPr>
              <a:t>方案核心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25F5834E-22DB-4AFA-9276-C0974FBE87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5067300"/>
            <a:ext cx="9810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8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每个 Agent 都共享同一套 LLM 抽象、知识检索与构建能力，输出可复核、可复用。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29869929-03A1-4BD9-B520-4D49F10262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9605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9E2F0"/>
            </a:solidFill>
            <a:prstDash val="solid"/>
          </a:ln>
        </p:spPr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4DD42469-C074-4736-9F83-8B4D628842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72250"/>
            <a:ext cx="85725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825" b="0">
                <a:solidFill>
                  <a:srgbClr val="66758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825" b="0">
                <a:solidFill>
                  <a:srgbClr val="66758F"/>
                </a:solidFill>
                <a:latin typeface="Microsoft YaHei"/>
                <a:ea typeface="Microsoft YaHei"/>
                <a:cs typeface="Microsoft YaHei"/>
              </a:rPr>
              <a:t>MACODE FW AI AGENT  ·  AI 竞赛方案</a:t>
            </a:r>
          </a:p>
        </p:txBody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626C0D7D-C4FB-4A5E-AA3F-8E1BADB0DE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572250"/>
            <a:ext cx="43815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10000"/>
              </a:lnSpc>
              <a:buNone/>
              <a:defRPr sz="825" b="1">
                <a:solidFill>
                  <a:srgbClr val="66758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825" b="1">
                <a:solidFill>
                  <a:srgbClr val="66758F"/>
                </a:solidFill>
                <a:latin typeface="Microsoft YaHei"/>
                <a:ea typeface="Microsoft YaHei"/>
                <a:cs typeface="Microsoft YaHei"/>
              </a:rPr>
              <a:t>03</a:t>
            </a:r>
          </a:p>
        </p:txBody>
      </p:sp>
    </p:spTree>
    <p:extLst>
      <p:ext uri="{BB962C8B-B14F-4D97-AF65-F5344CB8AC3E}">
        <p14:creationId xmlns:p14="http://schemas.microsoft.com/office/powerpoint/2010/main" val="1007340148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5F8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DEA99E56-41B8-4A7D-A0B2-0E69A2E35D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1950"/>
            <a:ext cx="10953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050" b="1">
                <a:solidFill>
                  <a:srgbClr val="2F6B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1">
                <a:solidFill>
                  <a:srgbClr val="2F6BFF"/>
                </a:solidFill>
                <a:latin typeface="Microsoft YaHei"/>
                <a:ea typeface="Microsoft YaHei"/>
                <a:cs typeface="Microsoft YaHei"/>
              </a:rPr>
              <a:t>03 系统框图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A12092C-EBA0-4DAA-86F6-DA7D81F861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7700"/>
            <a:ext cx="109537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2550" b="1">
                <a:solidFill>
                  <a:srgbClr val="0B163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550" b="1">
                <a:solidFill>
                  <a:srgbClr val="0B1630"/>
                </a:solidFill>
                <a:latin typeface="Microsoft YaHei"/>
                <a:ea typeface="Microsoft YaHei"/>
                <a:cs typeface="Microsoft YaHei"/>
              </a:rPr>
              <a:t>7 层架构，把智能能力放进工程边界内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E1ADD9A-AC07-488A-811A-5ABC13FA22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238250"/>
            <a:ext cx="10572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275" b="0">
                <a:solidFill>
                  <a:srgbClr val="66758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66758F"/>
                </a:solidFill>
                <a:latin typeface="Microsoft YaHei"/>
                <a:ea typeface="Microsoft YaHei"/>
                <a:cs typeface="Microsoft YaHei"/>
              </a:rPr>
              <a:t>前端只走 API，模型、工具、数据与安全策略在后端统一治理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4952F4A-50E1-4762-AB98-A3E61EFDE7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1828800"/>
            <a:ext cx="9620250" cy="409575"/>
          </a:xfrm>
          <a:prstGeom xmlns:a="http://schemas.openxmlformats.org/drawingml/2006/main" prst="roundRect">
            <a:avLst>
              <a:gd name="adj" fmla="val 2325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2F6BFF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484FA21-2266-43CC-82E4-D324D5E8CB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1828800"/>
            <a:ext cx="1714500" cy="409575"/>
          </a:xfrm>
          <a:prstGeom xmlns:a="http://schemas.openxmlformats.org/drawingml/2006/main" prst="roundRect">
            <a:avLst>
              <a:gd name="adj" fmla="val 23256"/>
            </a:avLst>
          </a:prstGeom>
          <a:solidFill xmlns:a="http://schemas.openxmlformats.org/drawingml/2006/main">
            <a:srgbClr val="2F6BFF"/>
          </a:solidFill>
          <a:ln xmlns:a="http://schemas.openxmlformats.org/drawingml/2006/main" w="9525">
            <a:solidFill>
              <a:srgbClr val="2F6BFF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7C8BF84-2CF2-4B58-A540-9519BE5CBF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1933575"/>
            <a:ext cx="14287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94697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2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L7  UI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8C787E8-C183-42E8-8851-94EDFA3494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24150" y="1933575"/>
            <a:ext cx="7429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94697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200" b="0">
                <a:solidFill>
                  <a:srgbClr val="1221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12213A"/>
                </a:solidFill>
                <a:latin typeface="Microsoft YaHei"/>
                <a:ea typeface="Microsoft YaHei"/>
                <a:cs typeface="Microsoft YaHei"/>
              </a:rPr>
              <a:t>任务工作台 · Agent 生成 · 图像生成 · 知识库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57E348D-4B03-47BC-89F7-71285A6C94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53700" y="1914525"/>
            <a:ext cx="285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82645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0000"/>
              </a:lnSpc>
              <a:buNone/>
              <a:defRPr sz="1650" b="1">
                <a:solidFill>
                  <a:srgbClr val="2F6B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2F6BFF"/>
                </a:solidFill>
                <a:latin typeface="Microsoft YaHei"/>
                <a:ea typeface="Microsoft YaHei"/>
                <a:cs typeface="Microsoft YaHei"/>
              </a:rPr>
              <a:t>↓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7ECDFF89-9BB7-4B32-A305-8AF378650E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2381250"/>
            <a:ext cx="9620250" cy="409575"/>
          </a:xfrm>
          <a:prstGeom xmlns:a="http://schemas.openxmlformats.org/drawingml/2006/main" prst="roundRect">
            <a:avLst>
              <a:gd name="adj" fmla="val 2325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19B8D4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B01E0840-61D8-4B46-8C4A-E2BE1A574B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2381250"/>
            <a:ext cx="1714500" cy="409575"/>
          </a:xfrm>
          <a:prstGeom xmlns:a="http://schemas.openxmlformats.org/drawingml/2006/main" prst="roundRect">
            <a:avLst>
              <a:gd name="adj" fmla="val 23256"/>
            </a:avLst>
          </a:prstGeom>
          <a:solidFill xmlns:a="http://schemas.openxmlformats.org/drawingml/2006/main">
            <a:srgbClr val="19B8D4"/>
          </a:solidFill>
          <a:ln xmlns:a="http://schemas.openxmlformats.org/drawingml/2006/main" w="9525">
            <a:solidFill>
              <a:srgbClr val="19B8D4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2C04BB08-5AB7-4FA1-9DF1-E2E5FCFE06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2486025"/>
            <a:ext cx="14287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94697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2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L6  API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1FDAE0DD-3DC9-4905-A33B-E25973D55E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24150" y="2486025"/>
            <a:ext cx="7429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94697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200" b="0">
                <a:solidFill>
                  <a:srgbClr val="1221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12213A"/>
                </a:solidFill>
                <a:latin typeface="Microsoft YaHei"/>
                <a:ea typeface="Microsoft YaHei"/>
                <a:cs typeface="Microsoft YaHei"/>
              </a:rPr>
              <a:t>JWT · REST / WebSocket · 限流 · CORS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86EEA611-04E8-4F6F-A71E-0956C0EB1F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53700" y="2466975"/>
            <a:ext cx="285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82645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0000"/>
              </a:lnSpc>
              <a:buNone/>
              <a:defRPr sz="1650" b="1">
                <a:solidFill>
                  <a:srgbClr val="19B8D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19B8D4"/>
                </a:solidFill>
                <a:latin typeface="Microsoft YaHei"/>
                <a:ea typeface="Microsoft YaHei"/>
                <a:cs typeface="Microsoft YaHei"/>
              </a:rPr>
              <a:t>↓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C6E66C4E-A0AB-41DC-A322-4E476417F4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2933700"/>
            <a:ext cx="9620250" cy="409575"/>
          </a:xfrm>
          <a:prstGeom xmlns:a="http://schemas.openxmlformats.org/drawingml/2006/main" prst="roundRect">
            <a:avLst>
              <a:gd name="adj" fmla="val 2325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7A5AF8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F35B12C6-FC1E-45D8-BA32-F7DE8E6386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2933700"/>
            <a:ext cx="1714500" cy="409575"/>
          </a:xfrm>
          <a:prstGeom xmlns:a="http://schemas.openxmlformats.org/drawingml/2006/main" prst="roundRect">
            <a:avLst>
              <a:gd name="adj" fmla="val 23256"/>
            </a:avLst>
          </a:prstGeom>
          <a:solidFill xmlns:a="http://schemas.openxmlformats.org/drawingml/2006/main">
            <a:srgbClr val="7A5AF8"/>
          </a:solidFill>
          <a:ln xmlns:a="http://schemas.openxmlformats.org/drawingml/2006/main" w="9525">
            <a:solidFill>
              <a:srgbClr val="7A5AF8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5785A3C4-966C-4676-B1F1-A3243465FA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3038475"/>
            <a:ext cx="14287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94697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2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L5  Flow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C754588F-DCA4-453D-A634-3B19841D7B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24150" y="3038475"/>
            <a:ext cx="7429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94697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200" b="0">
                <a:solidFill>
                  <a:srgbClr val="1221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12213A"/>
                </a:solidFill>
                <a:latin typeface="Microsoft YaHei"/>
                <a:ea typeface="Microsoft YaHei"/>
                <a:cs typeface="Microsoft YaHei"/>
              </a:rPr>
              <a:t>Chat Router · LangGraph Workflow · 任务状态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6F84BD04-7591-4F54-A0C5-F12D135C72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53700" y="3019425"/>
            <a:ext cx="285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82645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0000"/>
              </a:lnSpc>
              <a:buNone/>
              <a:defRPr sz="1650" b="1">
                <a:solidFill>
                  <a:srgbClr val="7A5AF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7A5AF8"/>
                </a:solidFill>
                <a:latin typeface="Microsoft YaHei"/>
                <a:ea typeface="Microsoft YaHei"/>
                <a:cs typeface="Microsoft YaHei"/>
              </a:rPr>
              <a:t>↓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7BEEB506-0C33-450A-9B64-1057B7A262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3486150"/>
            <a:ext cx="9620250" cy="409575"/>
          </a:xfrm>
          <a:prstGeom xmlns:a="http://schemas.openxmlformats.org/drawingml/2006/main" prst="roundRect">
            <a:avLst>
              <a:gd name="adj" fmla="val 2325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F59E0B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7E7090EA-6228-46FF-A338-22CB27EECD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3486150"/>
            <a:ext cx="1714500" cy="409575"/>
          </a:xfrm>
          <a:prstGeom xmlns:a="http://schemas.openxmlformats.org/drawingml/2006/main" prst="roundRect">
            <a:avLst>
              <a:gd name="adj" fmla="val 23256"/>
            </a:avLst>
          </a:prstGeom>
          <a:solidFill xmlns:a="http://schemas.openxmlformats.org/drawingml/2006/main">
            <a:srgbClr val="F59E0B"/>
          </a:solidFill>
          <a:ln xmlns:a="http://schemas.openxmlformats.org/drawingml/2006/main" w="9525">
            <a:solidFill>
              <a:srgbClr val="F59E0B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15033AC0-381B-4F2C-A5D9-766CCF8333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3590925"/>
            <a:ext cx="14287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94697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2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L4  Agents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2C412EF9-BDBB-45EA-8868-C5F973BA00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24150" y="3590925"/>
            <a:ext cx="7429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94697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200" b="0">
                <a:solidFill>
                  <a:srgbClr val="1221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12213A"/>
                </a:solidFill>
                <a:latin typeface="Microsoft YaHei"/>
                <a:ea typeface="Microsoft YaHei"/>
                <a:cs typeface="Microsoft YaHei"/>
              </a:rPr>
              <a:t>UnitTest · Driver · Build · BugFix · Debug · Review · Chat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15CF304E-91A1-4604-8BBA-608DA04D9A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53700" y="3571875"/>
            <a:ext cx="285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82645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0000"/>
              </a:lnSpc>
              <a:buNone/>
              <a:defRPr sz="1650" b="1">
                <a:solidFill>
                  <a:srgbClr val="F59E0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F59E0B"/>
                </a:solidFill>
                <a:latin typeface="Microsoft YaHei"/>
                <a:ea typeface="Microsoft YaHei"/>
                <a:cs typeface="Microsoft YaHei"/>
              </a:rPr>
              <a:t>↓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68AC41CE-4233-4475-91E5-216A12829E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4038600"/>
            <a:ext cx="9620250" cy="409575"/>
          </a:xfrm>
          <a:prstGeom xmlns:a="http://schemas.openxmlformats.org/drawingml/2006/main" prst="roundRect">
            <a:avLst>
              <a:gd name="adj" fmla="val 2325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17A673"/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BF493A67-205F-4640-BE3E-CF0C9E533E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4038600"/>
            <a:ext cx="1714500" cy="409575"/>
          </a:xfrm>
          <a:prstGeom xmlns:a="http://schemas.openxmlformats.org/drawingml/2006/main" prst="roundRect">
            <a:avLst>
              <a:gd name="adj" fmla="val 23256"/>
            </a:avLst>
          </a:prstGeom>
          <a:solidFill xmlns:a="http://schemas.openxmlformats.org/drawingml/2006/main">
            <a:srgbClr val="17A673"/>
          </a:solidFill>
          <a:ln xmlns:a="http://schemas.openxmlformats.org/drawingml/2006/main" w="9525">
            <a:solidFill>
              <a:srgbClr val="17A673"/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078B3407-A7EC-466E-8CDB-7C2BB441F3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4143375"/>
            <a:ext cx="14287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94697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2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L3  LLM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76F0DA2E-A2CA-4580-A358-72523B898C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24150" y="4143375"/>
            <a:ext cx="7429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94697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200" b="0">
                <a:solidFill>
                  <a:srgbClr val="1221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12213A"/>
                </a:solidFill>
                <a:latin typeface="Microsoft YaHei"/>
                <a:ea typeface="Microsoft YaHei"/>
                <a:cs typeface="Microsoft YaHei"/>
              </a:rPr>
              <a:t>LLMBridge · 6 Providers · 自动 Failover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40878D21-D0FB-49BE-9D10-670832874E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53700" y="4124325"/>
            <a:ext cx="285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82645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0000"/>
              </a:lnSpc>
              <a:buNone/>
              <a:defRPr sz="1650" b="1">
                <a:solidFill>
                  <a:srgbClr val="17A67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17A673"/>
                </a:solidFill>
                <a:latin typeface="Microsoft YaHei"/>
                <a:ea typeface="Microsoft YaHei"/>
                <a:cs typeface="Microsoft YaHei"/>
              </a:rPr>
              <a:t>↓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B296FBB7-BCD2-4E65-9C89-8430A73686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4591050"/>
            <a:ext cx="9620250" cy="409575"/>
          </a:xfrm>
          <a:prstGeom xmlns:a="http://schemas.openxmlformats.org/drawingml/2006/main" prst="roundRect">
            <a:avLst>
              <a:gd name="adj" fmla="val 2325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2F6BFF"/>
            </a:solidFill>
            <a:prstDash val="solid"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F8BCC00A-DC3A-4CE2-B7A4-2F73A7D233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4591050"/>
            <a:ext cx="1714500" cy="409575"/>
          </a:xfrm>
          <a:prstGeom xmlns:a="http://schemas.openxmlformats.org/drawingml/2006/main" prst="roundRect">
            <a:avLst>
              <a:gd name="adj" fmla="val 23256"/>
            </a:avLst>
          </a:prstGeom>
          <a:solidFill xmlns:a="http://schemas.openxmlformats.org/drawingml/2006/main">
            <a:srgbClr val="2F6BFF"/>
          </a:solidFill>
          <a:ln xmlns:a="http://schemas.openxmlformats.org/drawingml/2006/main" w="9525">
            <a:solidFill>
              <a:srgbClr val="2F6BFF"/>
            </a:solidFill>
            <a:prstDash val="solid"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AD181B33-E6F0-4EAB-91A1-E460BB57D9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4695825"/>
            <a:ext cx="14287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94697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2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L2  MCP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1ED19341-57BA-426B-976C-5CAF381B8C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24150" y="4695825"/>
            <a:ext cx="7429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94697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200" b="0">
                <a:solidFill>
                  <a:srgbClr val="1221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12213A"/>
                </a:solidFill>
                <a:latin typeface="Microsoft YaHei"/>
                <a:ea typeface="Microsoft YaHei"/>
                <a:cs typeface="Microsoft YaHei"/>
              </a:rPr>
              <a:t>STM32 · QBS · Jira · Bitbucket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DD9CBE00-91BD-4FA9-A2FF-11D6E01254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53700" y="4676775"/>
            <a:ext cx="285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82645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0000"/>
              </a:lnSpc>
              <a:buNone/>
              <a:defRPr sz="1650" b="1">
                <a:solidFill>
                  <a:srgbClr val="2F6B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2F6BFF"/>
                </a:solidFill>
                <a:latin typeface="Microsoft YaHei"/>
                <a:ea typeface="Microsoft YaHei"/>
                <a:cs typeface="Microsoft YaHei"/>
              </a:rPr>
              <a:t>↓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E0456A5D-8668-430D-A0D3-ABE412F912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5143500"/>
            <a:ext cx="9620250" cy="409575"/>
          </a:xfrm>
          <a:prstGeom xmlns:a="http://schemas.openxmlformats.org/drawingml/2006/main" prst="roundRect">
            <a:avLst>
              <a:gd name="adj" fmla="val 2325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0B1630"/>
            </a:solidFill>
            <a:prstDash val="solid"/>
          </a:ln>
        </p:spPr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14B18C72-6735-4B62-9CBC-3973D9DE8A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5143500"/>
            <a:ext cx="1714500" cy="409575"/>
          </a:xfrm>
          <a:prstGeom xmlns:a="http://schemas.openxmlformats.org/drawingml/2006/main" prst="roundRect">
            <a:avLst>
              <a:gd name="adj" fmla="val 23256"/>
            </a:avLst>
          </a:prstGeom>
          <a:solidFill xmlns:a="http://schemas.openxmlformats.org/drawingml/2006/main">
            <a:srgbClr val="0B1630"/>
          </a:solidFill>
          <a:ln xmlns:a="http://schemas.openxmlformats.org/drawingml/2006/main" w="9525">
            <a:solidFill>
              <a:srgbClr val="0B1630"/>
            </a:solidFill>
            <a:prstDash val="solid"/>
          </a:ln>
        </p:spPr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3EAFBD05-66B8-4436-B484-7BE0234CBB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5248275"/>
            <a:ext cx="14287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94697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2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L1  Infra</a:t>
            </a:r>
          </a:p>
        </p:txBody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13630B69-97BD-46E0-8DAB-AE74C9E3FA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24150" y="5248275"/>
            <a:ext cx="7429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94697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200" b="0">
                <a:solidFill>
                  <a:srgbClr val="1221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12213A"/>
                </a:solidFill>
                <a:latin typeface="Microsoft YaHei"/>
                <a:ea typeface="Microsoft YaHei"/>
                <a:cs typeface="Microsoft YaHei"/>
              </a:rPr>
              <a:t>SQLite · Redis / InMemory · 日志 · 指标 · 健康检查</a:t>
            </a:r>
          </a:p>
        </p:txBody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234D994F-FD36-4F4E-91C9-029E85DB5B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63250" y="1828800"/>
            <a:ext cx="762000" cy="3714750"/>
          </a:xfrm>
          <a:prstGeom xmlns:a="http://schemas.openxmlformats.org/drawingml/2006/main" prst="roundRect">
            <a:avLst>
              <a:gd name="adj" fmla="val 22500"/>
            </a:avLst>
          </a:prstGeom>
          <a:solidFill xmlns:a="http://schemas.openxmlformats.org/drawingml/2006/main">
            <a:srgbClr val="EAF1FF"/>
          </a:solidFill>
          <a:ln xmlns:a="http://schemas.openxmlformats.org/drawingml/2006/main" w="9525">
            <a:solidFill>
              <a:srgbClr val="B9CEFF"/>
            </a:solidFill>
            <a:prstDash val="solid"/>
          </a:ln>
        </p:spPr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EE4070E7-5EF4-420B-95BB-08D58BE0AB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34700" y="2114550"/>
            <a:ext cx="419100" cy="1333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20000"/>
              </a:lnSpc>
              <a:buNone/>
              <a:defRPr sz="1350" b="1">
                <a:solidFill>
                  <a:srgbClr val="2F6B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2F6BFF"/>
                </a:solidFill>
                <a:latin typeface="Microsoft YaHei"/>
                <a:ea typeface="Microsoft YaHei"/>
                <a:cs typeface="Microsoft YaHei"/>
              </a:rPr>
              <a:t>安\n全\n边\n界</a:t>
            </a:r>
          </a:p>
        </p:txBody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1A3C8723-1B5D-4BB1-9E7A-7596B00D6B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34700" y="3810000"/>
            <a:ext cx="419100" cy="1333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5000"/>
              </a:lnSpc>
              <a:buNone/>
              <a:defRPr sz="1125" b="1">
                <a:solidFill>
                  <a:srgbClr val="0B163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1">
                <a:solidFill>
                  <a:srgbClr val="0B1630"/>
                </a:solidFill>
                <a:latin typeface="Microsoft YaHei"/>
                <a:ea typeface="Microsoft YaHei"/>
                <a:cs typeface="Microsoft YaHei"/>
              </a:rPr>
              <a:t>密\n钥\n只\n在\n后\n端</a:t>
            </a:r>
          </a:p>
        </p:txBody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E90B94F4-9D76-4496-AEA1-4AA174674D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9605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9E2F0"/>
            </a:solidFill>
            <a:prstDash val="solid"/>
          </a:ln>
        </p:spPr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7608D97C-7F88-4FFE-B7DD-A78B9DF39A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72250"/>
            <a:ext cx="85725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825" b="0">
                <a:solidFill>
                  <a:srgbClr val="66758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825" b="0">
                <a:solidFill>
                  <a:srgbClr val="66758F"/>
                </a:solidFill>
                <a:latin typeface="Microsoft YaHei"/>
                <a:ea typeface="Microsoft YaHei"/>
                <a:cs typeface="Microsoft YaHei"/>
              </a:rPr>
              <a:t>MACODE FW AI AGENT  ·  AI 竞赛方案</a:t>
            </a:r>
          </a:p>
        </p:txBody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D54093D8-DEFA-4A86-9977-DAB9E2E5D8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572250"/>
            <a:ext cx="43815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10000"/>
              </a:lnSpc>
              <a:buNone/>
              <a:defRPr sz="825" b="1">
                <a:solidFill>
                  <a:srgbClr val="66758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825" b="1">
                <a:solidFill>
                  <a:srgbClr val="66758F"/>
                </a:solidFill>
                <a:latin typeface="Microsoft YaHei"/>
                <a:ea typeface="Microsoft YaHei"/>
                <a:cs typeface="Microsoft YaHei"/>
              </a:rPr>
              <a:t>04</a:t>
            </a:r>
          </a:p>
        </p:txBody>
      </p:sp>
    </p:spTree>
    <p:extLst>
      <p:ext uri="{BB962C8B-B14F-4D97-AF65-F5344CB8AC3E}">
        <p14:creationId xmlns:p14="http://schemas.microsoft.com/office/powerpoint/2010/main" val="1991747378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F289B6DB-F81C-407C-9C0E-D784BDAFC7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1950"/>
            <a:ext cx="10953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050" b="1">
                <a:solidFill>
                  <a:srgbClr val="2F6B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1">
                <a:solidFill>
                  <a:srgbClr val="2F6BFF"/>
                </a:solidFill>
                <a:latin typeface="Microsoft YaHei"/>
                <a:ea typeface="Microsoft YaHei"/>
                <a:cs typeface="Microsoft YaHei"/>
              </a:rPr>
              <a:t>04 多智能体协作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4E6F9E4-E51E-4722-BC79-649ED0A3E4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7700"/>
            <a:ext cx="109537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2550" b="1">
                <a:solidFill>
                  <a:srgbClr val="0B163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550" b="1">
                <a:solidFill>
                  <a:srgbClr val="0B1630"/>
                </a:solidFill>
                <a:latin typeface="Microsoft YaHei"/>
                <a:ea typeface="Microsoft YaHei"/>
                <a:cs typeface="Microsoft YaHei"/>
              </a:rPr>
              <a:t>7 个专业 Agent，共用一个 BuildAgent 能力底座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30F972A-F4D2-42B2-9A03-37B08A1F3D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238250"/>
            <a:ext cx="10572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275" b="0">
                <a:solidFill>
                  <a:srgbClr val="66758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66758F"/>
                </a:solidFill>
                <a:latin typeface="Microsoft YaHei"/>
                <a:ea typeface="Microsoft YaHei"/>
                <a:cs typeface="Microsoft YaHei"/>
              </a:rPr>
              <a:t>把“会写代码”扩展为“能完成工程任务”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B633AF2-255B-49FB-9939-283D10FF0A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86300" y="2800350"/>
            <a:ext cx="2762250" cy="876300"/>
          </a:xfrm>
          <a:prstGeom xmlns:a="http://schemas.openxmlformats.org/drawingml/2006/main" prst="roundRect">
            <a:avLst>
              <a:gd name="adj" fmla="val 21739"/>
            </a:avLst>
          </a:prstGeom>
          <a:solidFill xmlns:a="http://schemas.openxmlformats.org/drawingml/2006/main">
            <a:srgbClr val="0B1630"/>
          </a:solidFill>
          <a:ln xmlns:a="http://schemas.openxmlformats.org/drawingml/2006/main" w="9525">
            <a:solidFill>
              <a:srgbClr val="0B1630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4484C3F-CE33-4F3E-BE64-C9CD4E9EFE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72050" y="3028950"/>
            <a:ext cx="2190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6993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0000"/>
              </a:lnSpc>
              <a:buNone/>
              <a:defRPr sz="19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9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BuildAgent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24D6C17-20C6-44EC-9532-FD40149EAA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72050" y="3333750"/>
            <a:ext cx="21907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0000"/>
              </a:lnSpc>
              <a:buNone/>
              <a:defRPr sz="975" b="0">
                <a:solidFill>
                  <a:srgbClr val="BFD0F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0">
                <a:solidFill>
                  <a:srgbClr val="BFD0F5"/>
                </a:solidFill>
                <a:latin typeface="Microsoft YaHei"/>
                <a:ea typeface="Microsoft YaHei"/>
                <a:cs typeface="Microsoft YaHei"/>
              </a:rPr>
              <a:t>Host GCC / ARM GCC · 统一编译入口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F8BAE28-9D6F-4AAC-AE82-67B99FFA91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2000250"/>
            <a:ext cx="2190750" cy="685800"/>
          </a:xfrm>
          <a:prstGeom xmlns:a="http://schemas.openxmlformats.org/drawingml/2006/main" prst="roundRect">
            <a:avLst>
              <a:gd name="adj" fmla="val 25000"/>
            </a:avLst>
          </a:prstGeom>
          <a:solidFill xmlns:a="http://schemas.openxmlformats.org/drawingml/2006/main">
            <a:srgbClr val="F5F8FC"/>
          </a:solidFill>
          <a:ln xmlns:a="http://schemas.openxmlformats.org/drawingml/2006/main" w="9525">
            <a:solidFill>
              <a:srgbClr val="2F6BFF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611CBCF-0A77-4853-B46A-9DF5C7C92E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2143125"/>
            <a:ext cx="18859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79745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425" b="1">
                <a:solidFill>
                  <a:srgbClr val="0B163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1">
                <a:solidFill>
                  <a:srgbClr val="0B1630"/>
                </a:solidFill>
                <a:latin typeface="Microsoft YaHei"/>
                <a:ea typeface="Microsoft YaHei"/>
                <a:cs typeface="Microsoft YaHei"/>
              </a:rPr>
              <a:t>UnitTest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45610F05-3308-4493-BFC0-5E218C06CF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2390775"/>
            <a:ext cx="18859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975" b="0">
                <a:solidFill>
                  <a:srgbClr val="66758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0">
                <a:solidFill>
                  <a:srgbClr val="66758F"/>
                </a:solidFill>
                <a:latin typeface="Microsoft YaHei"/>
                <a:ea typeface="Microsoft YaHei"/>
                <a:cs typeface="Microsoft YaHei"/>
              </a:rPr>
              <a:t>生成测试 + 覆盖率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7E1F7439-2A7C-4349-991E-515C0D0EF2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52625" y="2686050"/>
            <a:ext cx="3829050" cy="1143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2F6BFF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E91E5521-1510-4EAD-A422-6E14498637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4095750"/>
            <a:ext cx="2190750" cy="685800"/>
          </a:xfrm>
          <a:prstGeom xmlns:a="http://schemas.openxmlformats.org/drawingml/2006/main" prst="roundRect">
            <a:avLst>
              <a:gd name="adj" fmla="val 25000"/>
            </a:avLst>
          </a:prstGeom>
          <a:solidFill xmlns:a="http://schemas.openxmlformats.org/drawingml/2006/main">
            <a:srgbClr val="F5F8FC"/>
          </a:solidFill>
          <a:ln xmlns:a="http://schemas.openxmlformats.org/drawingml/2006/main" w="9525">
            <a:solidFill>
              <a:srgbClr val="19B8D4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9E30C7DD-D8C7-4202-AA94-C5F1983523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4238625"/>
            <a:ext cx="18859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79745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425" b="1">
                <a:solidFill>
                  <a:srgbClr val="0B163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1">
                <a:solidFill>
                  <a:srgbClr val="0B1630"/>
                </a:solidFill>
                <a:latin typeface="Microsoft YaHei"/>
                <a:ea typeface="Microsoft YaHei"/>
                <a:cs typeface="Microsoft YaHei"/>
              </a:rPr>
              <a:t>Driver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91FE7FFD-1CD7-40AB-8E24-5B38F26D2F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4486275"/>
            <a:ext cx="18859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975" b="0">
                <a:solidFill>
                  <a:srgbClr val="66758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0">
                <a:solidFill>
                  <a:srgbClr val="66758F"/>
                </a:solidFill>
                <a:latin typeface="Microsoft YaHei"/>
                <a:ea typeface="Microsoft YaHei"/>
                <a:cs typeface="Microsoft YaHei"/>
              </a:rPr>
              <a:t>外设驱动 + 交叉编译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C29B54FC-DFA7-4041-8F1D-3B67964B94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52625" y="2800350"/>
            <a:ext cx="3829050" cy="12954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19B8D4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1C7F6B5E-0C7B-4BC7-B17E-75340B20A7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39125" y="2000250"/>
            <a:ext cx="2190750" cy="685800"/>
          </a:xfrm>
          <a:prstGeom xmlns:a="http://schemas.openxmlformats.org/drawingml/2006/main" prst="roundRect">
            <a:avLst>
              <a:gd name="adj" fmla="val 25000"/>
            </a:avLst>
          </a:prstGeom>
          <a:solidFill xmlns:a="http://schemas.openxmlformats.org/drawingml/2006/main">
            <a:srgbClr val="F5F8FC"/>
          </a:solidFill>
          <a:ln xmlns:a="http://schemas.openxmlformats.org/drawingml/2006/main" w="9525">
            <a:solidFill>
              <a:srgbClr val="F59E0B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C39DC6EB-2E75-4C4E-ACB0-EAFF015A66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91525" y="2143125"/>
            <a:ext cx="18859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79745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425" b="1">
                <a:solidFill>
                  <a:srgbClr val="0B163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1">
                <a:solidFill>
                  <a:srgbClr val="0B1630"/>
                </a:solidFill>
                <a:latin typeface="Microsoft YaHei"/>
                <a:ea typeface="Microsoft YaHei"/>
                <a:cs typeface="Microsoft YaHei"/>
              </a:rPr>
              <a:t>BugFix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7F4699CF-AC1F-4205-A69A-AABD88C178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91525" y="2390775"/>
            <a:ext cx="18859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975" b="0">
                <a:solidFill>
                  <a:srgbClr val="66758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0">
                <a:solidFill>
                  <a:srgbClr val="66758F"/>
                </a:solidFill>
                <a:latin typeface="Microsoft YaHei"/>
                <a:ea typeface="Microsoft YaHei"/>
                <a:cs typeface="Microsoft YaHei"/>
              </a:rPr>
              <a:t>问题定位 + 修复建议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ED27B254-2E13-4FB2-824B-F8540F689C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81675" y="2686050"/>
            <a:ext cx="3552825" cy="1143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F59E0B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69E857D2-3B7D-407F-BD70-D79B03A70B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39125" y="4095750"/>
            <a:ext cx="2190750" cy="685800"/>
          </a:xfrm>
          <a:prstGeom xmlns:a="http://schemas.openxmlformats.org/drawingml/2006/main" prst="roundRect">
            <a:avLst>
              <a:gd name="adj" fmla="val 25000"/>
            </a:avLst>
          </a:prstGeom>
          <a:solidFill xmlns:a="http://schemas.openxmlformats.org/drawingml/2006/main">
            <a:srgbClr val="F5F8FC"/>
          </a:solidFill>
          <a:ln xmlns:a="http://schemas.openxmlformats.org/drawingml/2006/main" w="9525">
            <a:solidFill>
              <a:srgbClr val="7A5AF8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0F211256-2DE2-40B8-9BC0-9D74D1A493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91525" y="4238625"/>
            <a:ext cx="18859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79745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425" b="1">
                <a:solidFill>
                  <a:srgbClr val="0B163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1">
                <a:solidFill>
                  <a:srgbClr val="0B1630"/>
                </a:solidFill>
                <a:latin typeface="Microsoft YaHei"/>
                <a:ea typeface="Microsoft YaHei"/>
                <a:cs typeface="Microsoft YaHei"/>
              </a:rPr>
              <a:t>Debug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71DAB7F1-0B1C-4C74-A3BE-6B4A309F1C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91525" y="4486275"/>
            <a:ext cx="18859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975" b="0">
                <a:solidFill>
                  <a:srgbClr val="66758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0">
                <a:solidFill>
                  <a:srgbClr val="66758F"/>
                </a:solidFill>
                <a:latin typeface="Microsoft YaHei"/>
                <a:ea typeface="Microsoft YaHei"/>
                <a:cs typeface="Microsoft YaHei"/>
              </a:rPr>
              <a:t>崩溃分析 + 日志解读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A114730C-82DB-4877-A245-32D5BB604D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81675" y="2800350"/>
            <a:ext cx="3552825" cy="12954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7A5AF8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3EF5DCC2-F50A-4F79-B24A-29274B3A62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48000" y="4762500"/>
            <a:ext cx="2190750" cy="685800"/>
          </a:xfrm>
          <a:prstGeom xmlns:a="http://schemas.openxmlformats.org/drawingml/2006/main" prst="roundRect">
            <a:avLst>
              <a:gd name="adj" fmla="val 25000"/>
            </a:avLst>
          </a:prstGeom>
          <a:solidFill xmlns:a="http://schemas.openxmlformats.org/drawingml/2006/main">
            <a:srgbClr val="F5F8FC"/>
          </a:solidFill>
          <a:ln xmlns:a="http://schemas.openxmlformats.org/drawingml/2006/main" w="9525">
            <a:solidFill>
              <a:srgbClr val="17A673"/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AD059A75-FB81-41B9-ABB2-8A36F605C7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00400" y="4905375"/>
            <a:ext cx="18859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79745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425" b="1">
                <a:solidFill>
                  <a:srgbClr val="0B163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1">
                <a:solidFill>
                  <a:srgbClr val="0B1630"/>
                </a:solidFill>
                <a:latin typeface="Microsoft YaHei"/>
                <a:ea typeface="Microsoft YaHei"/>
                <a:cs typeface="Microsoft YaHei"/>
              </a:rPr>
              <a:t>Review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A0E03FF1-483B-43A4-B230-BF9651F725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00400" y="5153025"/>
            <a:ext cx="18859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975" b="0">
                <a:solidFill>
                  <a:srgbClr val="66758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0">
                <a:solidFill>
                  <a:srgbClr val="66758F"/>
                </a:solidFill>
                <a:latin typeface="Microsoft YaHei"/>
                <a:ea typeface="Microsoft YaHei"/>
                <a:cs typeface="Microsoft YaHei"/>
              </a:rPr>
              <a:t>PR Diff + MISRA 检查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9385CAFA-AB56-482D-8DC3-996192A2A6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43375" y="2800350"/>
            <a:ext cx="1638300" cy="196215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17A673"/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9351286A-0D5D-4FA2-B8C2-0245F78D86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4762500"/>
            <a:ext cx="2190750" cy="685800"/>
          </a:xfrm>
          <a:prstGeom xmlns:a="http://schemas.openxmlformats.org/drawingml/2006/main" prst="roundRect">
            <a:avLst>
              <a:gd name="adj" fmla="val 25000"/>
            </a:avLst>
          </a:prstGeom>
          <a:solidFill xmlns:a="http://schemas.openxmlformats.org/drawingml/2006/main">
            <a:srgbClr val="F5F8FC"/>
          </a:solidFill>
          <a:ln xmlns:a="http://schemas.openxmlformats.org/drawingml/2006/main" w="9525">
            <a:solidFill>
              <a:srgbClr val="2F6BFF"/>
            </a:solidFill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95F37A3A-8EA4-4943-BAC4-8836A453CA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24650" y="4905375"/>
            <a:ext cx="18859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79745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425" b="1">
                <a:solidFill>
                  <a:srgbClr val="0B163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1">
                <a:solidFill>
                  <a:srgbClr val="0B1630"/>
                </a:solidFill>
                <a:latin typeface="Microsoft YaHei"/>
                <a:ea typeface="Microsoft YaHei"/>
                <a:cs typeface="Microsoft YaHei"/>
              </a:rPr>
              <a:t>Chat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D3632AAD-EED7-44D5-918C-70D0218D9A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24650" y="5153025"/>
            <a:ext cx="18859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975" b="0">
                <a:solidFill>
                  <a:srgbClr val="66758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0">
                <a:solidFill>
                  <a:srgbClr val="66758F"/>
                </a:solidFill>
                <a:latin typeface="Microsoft YaHei"/>
                <a:ea typeface="Microsoft YaHei"/>
                <a:cs typeface="Microsoft YaHei"/>
              </a:rPr>
              <a:t>多轮对话 + 意图路由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938B49EA-3D57-4CAC-ADA4-A7984EDC56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81675" y="2800350"/>
            <a:ext cx="1885950" cy="196215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2F6BFF"/>
            </a:solidFill>
            <a:prstDash val="solid"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B48873D0-7020-46C3-9CC0-29CB782353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1543050"/>
            <a:ext cx="10287000" cy="438150"/>
          </a:xfrm>
          <a:prstGeom xmlns:a="http://schemas.openxmlformats.org/drawingml/2006/main" prst="roundRect">
            <a:avLst>
              <a:gd name="adj" fmla="val 34783"/>
            </a:avLst>
          </a:prstGeom>
          <a:solidFill xmlns:a="http://schemas.openxmlformats.org/drawingml/2006/main">
            <a:srgbClr val="EAF1FF"/>
          </a:solidFill>
          <a:ln xmlns:a="http://schemas.openxmlformats.org/drawingml/2006/main" w="9525">
            <a:solidFill>
              <a:srgbClr val="EAF1FF"/>
            </a:solidFill>
            <a:prstDash val="solid"/>
          </a:ln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2A452F17-D65C-4A6D-B808-BD983A0A9D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1666875"/>
            <a:ext cx="9715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84175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0000"/>
              </a:lnSpc>
              <a:buNone/>
              <a:defRPr sz="1350" b="1">
                <a:solidFill>
                  <a:srgbClr val="2F6B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2F6BFF"/>
                </a:solidFill>
                <a:latin typeface="Microsoft YaHei"/>
                <a:ea typeface="Microsoft YaHei"/>
                <a:cs typeface="Microsoft YaHei"/>
              </a:rPr>
              <a:t>创新点：编译能力集中治理，所有 Agent 共享同一套验证路径，减少重复实现与结果漂移。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5898D385-EA0E-4242-8CC1-AF8687D7B1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9605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9E2F0"/>
            </a:solidFill>
            <a:prstDash val="solid"/>
          </a:ln>
        </p:spPr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78281108-F3AA-4025-BD9C-94A5DCAD24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72250"/>
            <a:ext cx="85725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825" b="0">
                <a:solidFill>
                  <a:srgbClr val="66758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825" b="0">
                <a:solidFill>
                  <a:srgbClr val="66758F"/>
                </a:solidFill>
                <a:latin typeface="Microsoft YaHei"/>
                <a:ea typeface="Microsoft YaHei"/>
                <a:cs typeface="Microsoft YaHei"/>
              </a:rPr>
              <a:t>MACODE FW AI AGENT  ·  AI 竞赛方案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8D4C6C02-5CBC-4BE1-AFAC-C71ACCDCC9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572250"/>
            <a:ext cx="43815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10000"/>
              </a:lnSpc>
              <a:buNone/>
              <a:defRPr sz="825" b="1">
                <a:solidFill>
                  <a:srgbClr val="66758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825" b="1">
                <a:solidFill>
                  <a:srgbClr val="66758F"/>
                </a:solidFill>
                <a:latin typeface="Microsoft YaHei"/>
                <a:ea typeface="Microsoft YaHei"/>
                <a:cs typeface="Microsoft YaHei"/>
              </a:rPr>
              <a:t>05</a:t>
            </a:r>
          </a:p>
        </p:txBody>
      </p:sp>
    </p:spTree>
    <p:extLst>
      <p:ext uri="{BB962C8B-B14F-4D97-AF65-F5344CB8AC3E}">
        <p14:creationId xmlns:p14="http://schemas.microsoft.com/office/powerpoint/2010/main" val="1795267138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5F8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160A6681-3886-48C2-85BE-1A24664F50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1950"/>
            <a:ext cx="10953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050" b="1">
                <a:solidFill>
                  <a:srgbClr val="2F6B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1">
                <a:solidFill>
                  <a:srgbClr val="2F6BFF"/>
                </a:solidFill>
                <a:latin typeface="Microsoft YaHei"/>
                <a:ea typeface="Microsoft YaHei"/>
                <a:cs typeface="Microsoft YaHei"/>
              </a:rPr>
              <a:t>05 可验证闭环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90FB8B2-FC8C-4E01-8341-D3B88328C9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7700"/>
            <a:ext cx="109537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2550" b="1">
                <a:solidFill>
                  <a:srgbClr val="0B163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550" b="1">
                <a:solidFill>
                  <a:srgbClr val="0B1630"/>
                </a:solidFill>
                <a:latin typeface="Microsoft YaHei"/>
                <a:ea typeface="Microsoft YaHei"/>
                <a:cs typeface="Microsoft YaHei"/>
              </a:rPr>
              <a:t>从源代码到可交付产物，每一步都有证据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AB61556-FDDF-45C1-896A-0D995237B9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238250"/>
            <a:ext cx="10572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275" b="0">
                <a:solidFill>
                  <a:srgbClr val="66758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66758F"/>
                </a:solidFill>
                <a:latin typeface="Microsoft YaHei"/>
                <a:ea typeface="Microsoft YaHei"/>
                <a:cs typeface="Microsoft YaHei"/>
              </a:rPr>
              <a:t>工作流节点可追踪，失败可重试，结果可下载、可回放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610635D-9269-4355-8533-7DEF0DBCCC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2247900"/>
            <a:ext cx="1752600" cy="1562100"/>
          </a:xfrm>
          <a:prstGeom xmlns:a="http://schemas.openxmlformats.org/drawingml/2006/main" prst="roundRect">
            <a:avLst>
              <a:gd name="adj" fmla="val 1097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2F6BFF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B396EB6-34DB-495B-940E-28265EC49D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419350"/>
            <a:ext cx="361950" cy="3619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F6BFF"/>
          </a:solidFill>
          <a:ln xmlns:a="http://schemas.openxmlformats.org/drawingml/2006/main" w="9525">
            <a:solidFill>
              <a:srgbClr val="2F6BFF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89035E7-A88E-418B-AFEB-998E728A74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514600"/>
            <a:ext cx="3619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85227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0000"/>
              </a:lnSpc>
              <a:buNone/>
              <a:defRPr sz="12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1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ECCCCE5-936F-416A-B586-4BC7334B95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971800"/>
            <a:ext cx="14097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87719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425" b="1">
                <a:solidFill>
                  <a:srgbClr val="0B163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1">
                <a:solidFill>
                  <a:srgbClr val="0B1630"/>
                </a:solidFill>
                <a:latin typeface="Microsoft YaHei"/>
                <a:ea typeface="Microsoft YaHei"/>
                <a:cs typeface="Microsoft YaHei"/>
              </a:rPr>
              <a:t>解析上下文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27ACB976-08F5-4F51-9A7A-FC193D76C7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314700"/>
            <a:ext cx="14097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buNone/>
              <a:defRPr sz="1050" b="0">
                <a:solidFill>
                  <a:srgbClr val="66758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0">
                <a:solidFill>
                  <a:srgbClr val="66758F"/>
                </a:solidFill>
                <a:latin typeface="Microsoft YaHei"/>
                <a:ea typeface="Microsoft YaHei"/>
                <a:cs typeface="Microsoft YaHei"/>
              </a:rPr>
              <a:t>源码 / 日志 / 知识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80162370-BB32-41F6-801C-A6106974F2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33650" y="2876550"/>
            <a:ext cx="3429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6993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0000"/>
              </a:lnSpc>
              <a:buNone/>
              <a:defRPr sz="1950" b="1">
                <a:solidFill>
                  <a:srgbClr val="2F6B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950" b="1">
                <a:solidFill>
                  <a:srgbClr val="2F6BFF"/>
                </a:solidFill>
                <a:latin typeface="Microsoft YaHei"/>
                <a:ea typeface="Microsoft YaHei"/>
                <a:cs typeface="Microsoft YaHei"/>
              </a:rPr>
              <a:t>→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C565EFA1-A2A9-452A-81B5-1851310F50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76550" y="2247900"/>
            <a:ext cx="1752600" cy="1562100"/>
          </a:xfrm>
          <a:prstGeom xmlns:a="http://schemas.openxmlformats.org/drawingml/2006/main" prst="roundRect">
            <a:avLst>
              <a:gd name="adj" fmla="val 1097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7A5AF8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E55DCAEF-1BEF-482C-96B3-2053DDF894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48000" y="2419350"/>
            <a:ext cx="361950" cy="3619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7A5AF8"/>
          </a:solidFill>
          <a:ln xmlns:a="http://schemas.openxmlformats.org/drawingml/2006/main" w="9525">
            <a:solidFill>
              <a:srgbClr val="7A5AF8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80681145-AB7C-4C9E-8E27-5F266471EA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48000" y="2514600"/>
            <a:ext cx="3619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85227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0000"/>
              </a:lnSpc>
              <a:buNone/>
              <a:defRPr sz="12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2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71F8AF8B-9D10-4F11-AADC-F701E77E05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48000" y="2971800"/>
            <a:ext cx="14097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87719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425" b="1">
                <a:solidFill>
                  <a:srgbClr val="0B163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1">
                <a:solidFill>
                  <a:srgbClr val="0B1630"/>
                </a:solidFill>
                <a:latin typeface="Microsoft YaHei"/>
                <a:ea typeface="Microsoft YaHei"/>
                <a:cs typeface="Microsoft YaHei"/>
              </a:rPr>
              <a:t>生成方案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F6084043-FE02-4B5C-85AF-DAB8F2BCF2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48000" y="3314700"/>
            <a:ext cx="14097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buNone/>
              <a:defRPr sz="1050" b="0">
                <a:solidFill>
                  <a:srgbClr val="66758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0">
                <a:solidFill>
                  <a:srgbClr val="66758F"/>
                </a:solidFill>
                <a:latin typeface="Microsoft YaHei"/>
                <a:ea typeface="Microsoft YaHei"/>
                <a:cs typeface="Microsoft YaHei"/>
              </a:rPr>
              <a:t>测试、驱动或修复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BB56DB2E-1F93-4846-8FC0-91507353BB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67250" y="2876550"/>
            <a:ext cx="3429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6993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0000"/>
              </a:lnSpc>
              <a:buNone/>
              <a:defRPr sz="1950" b="1">
                <a:solidFill>
                  <a:srgbClr val="7A5AF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950" b="1">
                <a:solidFill>
                  <a:srgbClr val="7A5AF8"/>
                </a:solidFill>
                <a:latin typeface="Microsoft YaHei"/>
                <a:ea typeface="Microsoft YaHei"/>
                <a:cs typeface="Microsoft YaHei"/>
              </a:rPr>
              <a:t>→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8995F727-394D-4B48-8292-7288A09E43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10150" y="2247900"/>
            <a:ext cx="1752600" cy="1562100"/>
          </a:xfrm>
          <a:prstGeom xmlns:a="http://schemas.openxmlformats.org/drawingml/2006/main" prst="roundRect">
            <a:avLst>
              <a:gd name="adj" fmla="val 1097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19B8D4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07F18BCF-3303-4D70-8EFD-78606F1F1A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81600" y="2419350"/>
            <a:ext cx="361950" cy="3619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9B8D4"/>
          </a:solidFill>
          <a:ln xmlns:a="http://schemas.openxmlformats.org/drawingml/2006/main" w="9525">
            <a:solidFill>
              <a:srgbClr val="19B8D4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A73C360F-5CCC-461C-A01F-10DD95341E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81600" y="2514600"/>
            <a:ext cx="3619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85227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0000"/>
              </a:lnSpc>
              <a:buNone/>
              <a:defRPr sz="12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3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411A80BA-DE35-454D-9B94-1AC7BC7893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81600" y="2971800"/>
            <a:ext cx="14097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87719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425" b="1">
                <a:solidFill>
                  <a:srgbClr val="0B163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1">
                <a:solidFill>
                  <a:srgbClr val="0B1630"/>
                </a:solidFill>
                <a:latin typeface="Microsoft YaHei"/>
                <a:ea typeface="Microsoft YaHei"/>
                <a:cs typeface="Microsoft YaHei"/>
              </a:rPr>
              <a:t>工具执行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4AF003C0-D73E-49D5-9762-430F2CC5D1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81600" y="3314700"/>
            <a:ext cx="14097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buNone/>
              <a:defRPr sz="1050" b="0">
                <a:solidFill>
                  <a:srgbClr val="66758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0">
                <a:solidFill>
                  <a:srgbClr val="66758F"/>
                </a:solidFill>
                <a:latin typeface="Microsoft YaHei"/>
                <a:ea typeface="Microsoft YaHei"/>
                <a:cs typeface="Microsoft YaHei"/>
              </a:rPr>
              <a:t>编译、MCP、CLI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AF5E5AA1-2EEB-4EC5-A12A-C2FB314C76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00850" y="2876550"/>
            <a:ext cx="3429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6993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0000"/>
              </a:lnSpc>
              <a:buNone/>
              <a:defRPr sz="1950" b="1">
                <a:solidFill>
                  <a:srgbClr val="19B8D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950" b="1">
                <a:solidFill>
                  <a:srgbClr val="19B8D4"/>
                </a:solidFill>
                <a:latin typeface="Microsoft YaHei"/>
                <a:ea typeface="Microsoft YaHei"/>
                <a:cs typeface="Microsoft YaHei"/>
              </a:rPr>
              <a:t>→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B516F3EE-130C-407A-B9B9-E5B6F34F2C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0" y="2247900"/>
            <a:ext cx="1752600" cy="1562100"/>
          </a:xfrm>
          <a:prstGeom xmlns:a="http://schemas.openxmlformats.org/drawingml/2006/main" prst="roundRect">
            <a:avLst>
              <a:gd name="adj" fmla="val 1097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17A673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CABBBC56-3D30-4F35-A0B2-B03F54131D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15200" y="2419350"/>
            <a:ext cx="361950" cy="3619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7A673"/>
          </a:solidFill>
          <a:ln xmlns:a="http://schemas.openxmlformats.org/drawingml/2006/main" w="9525">
            <a:solidFill>
              <a:srgbClr val="17A673"/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F2371C08-92D9-4AD7-AF21-7833A78B6B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15200" y="2514600"/>
            <a:ext cx="3619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85227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0000"/>
              </a:lnSpc>
              <a:buNone/>
              <a:defRPr sz="12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4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9B89E9D7-2023-45B6-8180-413B49D981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15200" y="2971800"/>
            <a:ext cx="14097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87719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425" b="1">
                <a:solidFill>
                  <a:srgbClr val="0B163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1">
                <a:solidFill>
                  <a:srgbClr val="0B1630"/>
                </a:solidFill>
                <a:latin typeface="Microsoft YaHei"/>
                <a:ea typeface="Microsoft YaHei"/>
                <a:cs typeface="Microsoft YaHei"/>
              </a:rPr>
              <a:t>质量验证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C0B5BE0A-66D7-495D-8DB0-994EC69BCE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15200" y="3314700"/>
            <a:ext cx="14097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buNone/>
              <a:defRPr sz="1050" b="0">
                <a:solidFill>
                  <a:srgbClr val="66758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0">
                <a:solidFill>
                  <a:srgbClr val="66758F"/>
                </a:solidFill>
                <a:latin typeface="Microsoft YaHei"/>
                <a:ea typeface="Microsoft YaHei"/>
                <a:cs typeface="Microsoft YaHei"/>
              </a:rPr>
              <a:t>通过率、覆盖率、审查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29037B03-CAED-418C-980D-C788B480C8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34450" y="2876550"/>
            <a:ext cx="3429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6993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0000"/>
              </a:lnSpc>
              <a:buNone/>
              <a:defRPr sz="1950" b="1">
                <a:solidFill>
                  <a:srgbClr val="17A67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950" b="1">
                <a:solidFill>
                  <a:srgbClr val="17A673"/>
                </a:solidFill>
                <a:latin typeface="Microsoft YaHei"/>
                <a:ea typeface="Microsoft YaHei"/>
                <a:cs typeface="Microsoft YaHei"/>
              </a:rPr>
              <a:t>→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95CF23F6-2B87-433B-88C6-79DBBEB1F5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77350" y="2247900"/>
            <a:ext cx="1752600" cy="1562100"/>
          </a:xfrm>
          <a:prstGeom xmlns:a="http://schemas.openxmlformats.org/drawingml/2006/main" prst="roundRect">
            <a:avLst>
              <a:gd name="adj" fmla="val 1097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F59E0B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3CB71F04-5C96-45B5-8985-66D7DA876D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48800" y="2419350"/>
            <a:ext cx="361950" cy="3619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59E0B"/>
          </a:solidFill>
          <a:ln xmlns:a="http://schemas.openxmlformats.org/drawingml/2006/main" w="9525">
            <a:solidFill>
              <a:srgbClr val="F59E0B"/>
            </a:solidFill>
            <a:prstDash val="solid"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6BDE151B-89E9-4DB9-B305-B7AC50D82F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48800" y="2514600"/>
            <a:ext cx="3619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85227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0000"/>
              </a:lnSpc>
              <a:buNone/>
              <a:defRPr sz="12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5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B95091E2-3B50-4D65-8D9C-38C9ED4B56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48800" y="2971800"/>
            <a:ext cx="14097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87719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425" b="1">
                <a:solidFill>
                  <a:srgbClr val="0B163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1">
                <a:solidFill>
                  <a:srgbClr val="0B1630"/>
                </a:solidFill>
                <a:latin typeface="Microsoft YaHei"/>
                <a:ea typeface="Microsoft YaHei"/>
                <a:cs typeface="Microsoft YaHei"/>
              </a:rPr>
              <a:t>产物沉淀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F96D2E66-C3DC-4BEC-AFA9-62FAA8D791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48800" y="3314700"/>
            <a:ext cx="14097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buNone/>
              <a:defRPr sz="1050" b="0">
                <a:solidFill>
                  <a:srgbClr val="66758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0">
                <a:solidFill>
                  <a:srgbClr val="66758F"/>
                </a:solidFill>
                <a:latin typeface="Microsoft YaHei"/>
                <a:ea typeface="Microsoft YaHei"/>
                <a:cs typeface="Microsoft YaHei"/>
              </a:rPr>
              <a:t>文件、报告、知识条目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DF01016A-4EFC-4C70-AF2A-A76E8D1A00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4305300"/>
            <a:ext cx="10325100" cy="1162050"/>
          </a:xfrm>
          <a:prstGeom xmlns:a="http://schemas.openxmlformats.org/drawingml/2006/main" prst="roundRect">
            <a:avLst>
              <a:gd name="adj" fmla="val 16393"/>
            </a:avLst>
          </a:prstGeom>
          <a:solidFill xmlns:a="http://schemas.openxmlformats.org/drawingml/2006/main">
            <a:srgbClr val="0B1630"/>
          </a:solidFill>
          <a:ln xmlns:a="http://schemas.openxmlformats.org/drawingml/2006/main" w="9525">
            <a:solidFill>
              <a:srgbClr val="0B1630"/>
            </a:solidFill>
            <a:prstDash val="solid"/>
          </a:ln>
        </p:spPr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F57BBB44-1525-440E-A13D-88AA1A45CE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4572000"/>
            <a:ext cx="2000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050" b="1">
                <a:solidFill>
                  <a:srgbClr val="8FB3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1">
                <a:solidFill>
                  <a:srgbClr val="8FB3FF"/>
                </a:solidFill>
                <a:latin typeface="Microsoft YaHei"/>
                <a:ea typeface="Microsoft YaHei"/>
                <a:cs typeface="Microsoft YaHei"/>
              </a:rPr>
              <a:t>可观测性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AD9B1A13-5ED1-4835-A624-FC0D590BCE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4895850"/>
            <a:ext cx="9525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89532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6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实时流式响应  ·  任务状态  ·  失败重试  ·  令牌与成本记录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C8657F9D-60F2-4996-8C0C-BFB6325E82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5219700"/>
            <a:ext cx="9144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125" b="0">
                <a:solidFill>
                  <a:srgbClr val="BFD0F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>
                <a:solidFill>
                  <a:srgbClr val="BFD0F5"/>
                </a:solidFill>
                <a:latin typeface="Microsoft YaHei"/>
                <a:ea typeface="Microsoft YaHei"/>
                <a:cs typeface="Microsoft YaHei"/>
              </a:rPr>
              <a:t>让评审看到“怎么做、做了什么、结果是否可信”。</a:t>
            </a:r>
          </a:p>
        </p:txBody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01451310-4384-45C1-AD04-0AE8144B9E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9605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9E2F0"/>
            </a:solidFill>
            <a:prstDash val="solid"/>
          </a:ln>
        </p:spPr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D9DE4DE8-99F7-46B7-86D9-A84C4BBE2C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72250"/>
            <a:ext cx="85725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825" b="0">
                <a:solidFill>
                  <a:srgbClr val="66758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825" b="0">
                <a:solidFill>
                  <a:srgbClr val="66758F"/>
                </a:solidFill>
                <a:latin typeface="Microsoft YaHei"/>
                <a:ea typeface="Microsoft YaHei"/>
                <a:cs typeface="Microsoft YaHei"/>
              </a:rPr>
              <a:t>MACODE FW AI AGENT  ·  AI 竞赛方案</a:t>
            </a:r>
          </a:p>
        </p:txBody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27C5A739-ED8F-4547-A23C-1C8793FFE8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572250"/>
            <a:ext cx="43815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10000"/>
              </a:lnSpc>
              <a:buNone/>
              <a:defRPr sz="825" b="1">
                <a:solidFill>
                  <a:srgbClr val="66758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825" b="1">
                <a:solidFill>
                  <a:srgbClr val="66758F"/>
                </a:solidFill>
                <a:latin typeface="Microsoft YaHei"/>
                <a:ea typeface="Microsoft YaHei"/>
                <a:cs typeface="Microsoft YaHei"/>
              </a:rPr>
              <a:t>06</a:t>
            </a:r>
          </a:p>
        </p:txBody>
      </p:sp>
    </p:spTree>
    <p:extLst>
      <p:ext uri="{BB962C8B-B14F-4D97-AF65-F5344CB8AC3E}">
        <p14:creationId xmlns:p14="http://schemas.microsoft.com/office/powerpoint/2010/main" val="1518917261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4AAF332D-2CD2-468F-93AC-E60AB38DC2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1950"/>
            <a:ext cx="10953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050" b="1">
                <a:solidFill>
                  <a:srgbClr val="2F6B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1">
                <a:solidFill>
                  <a:srgbClr val="2F6BFF"/>
                </a:solidFill>
                <a:latin typeface="Microsoft YaHei"/>
                <a:ea typeface="Microsoft YaHei"/>
                <a:cs typeface="Microsoft YaHei"/>
              </a:rPr>
              <a:t>06 知识与工具生态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AAE7769-11E3-4498-BDAA-0C1A440717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7700"/>
            <a:ext cx="109537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2550" b="1">
                <a:solidFill>
                  <a:srgbClr val="0B163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550" b="1">
                <a:solidFill>
                  <a:srgbClr val="0B1630"/>
                </a:solidFill>
                <a:latin typeface="Microsoft YaHei"/>
                <a:ea typeface="Microsoft YaHei"/>
                <a:cs typeface="Microsoft YaHei"/>
              </a:rPr>
              <a:t>Register-first 知识库，让检索结果可追溯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E1F1C3E-159F-45DD-8572-8E10F304A5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238250"/>
            <a:ext cx="10572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275" b="0">
                <a:solidFill>
                  <a:srgbClr val="66758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66758F"/>
                </a:solidFill>
                <a:latin typeface="Microsoft YaHei"/>
                <a:ea typeface="Microsoft YaHei"/>
                <a:cs typeface="Microsoft YaHei"/>
              </a:rPr>
              <a:t>芯片寄存器、项目文档与团队经验进入同一条 Agent 上下文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1DE34D0-5231-4589-B578-28388A6BC2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981200"/>
            <a:ext cx="4572000" cy="3467100"/>
          </a:xfrm>
          <a:prstGeom xmlns:a="http://schemas.openxmlformats.org/drawingml/2006/main" prst="roundRect">
            <a:avLst>
              <a:gd name="adj" fmla="val 6044"/>
            </a:avLst>
          </a:prstGeom>
          <a:solidFill xmlns:a="http://schemas.openxmlformats.org/drawingml/2006/main">
            <a:srgbClr val="0B1630"/>
          </a:solidFill>
          <a:ln xmlns:a="http://schemas.openxmlformats.org/drawingml/2006/main" w="9525">
            <a:solidFill>
              <a:srgbClr val="0B1630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CDAF282-F91F-4570-852C-BDE94D142B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2266950"/>
            <a:ext cx="3810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90909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5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知识进入工作流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7F66506-6F24-411F-AD40-415D43F3AE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2781300"/>
            <a:ext cx="3962400" cy="419100"/>
          </a:xfrm>
          <a:prstGeom xmlns:a="http://schemas.openxmlformats.org/drawingml/2006/main" prst="roundRect">
            <a:avLst>
              <a:gd name="adj" fmla="val 27273"/>
            </a:avLst>
          </a:prstGeom>
          <a:solidFill xmlns:a="http://schemas.openxmlformats.org/drawingml/2006/main">
            <a:srgbClr val="142B56"/>
          </a:solidFill>
          <a:ln xmlns:a="http://schemas.openxmlformats.org/drawingml/2006/main" w="9525">
            <a:solidFill>
              <a:srgbClr val="2B4C84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2A12122-105E-4B22-BC4B-FA4F50798E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2867025"/>
            <a:ext cx="247650" cy="2476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F6BFF"/>
          </a:solidFill>
          <a:ln xmlns:a="http://schemas.openxmlformats.org/drawingml/2006/main" w="9525">
            <a:solidFill>
              <a:srgbClr val="2F6BFF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5B5CA678-BAF8-49F8-8B44-65AF768B8B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66850" y="2847975"/>
            <a:ext cx="11239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90909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125" b="1">
                <a:solidFill>
                  <a:srgbClr val="D9E5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1">
                <a:solidFill>
                  <a:srgbClr val="D9E5FF"/>
                </a:solidFill>
                <a:latin typeface="Microsoft YaHei"/>
                <a:ea typeface="Microsoft YaHei"/>
                <a:cs typeface="Microsoft YaHei"/>
              </a:rPr>
              <a:t>注册来源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5690B0FD-FF1F-41A0-8503-1503B8F0DA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90800" y="2847975"/>
            <a:ext cx="21717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975" b="0">
                <a:solidFill>
                  <a:srgbClr val="BFD0F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0">
                <a:solidFill>
                  <a:srgbClr val="BFD0F5"/>
                </a:solidFill>
                <a:latin typeface="Microsoft YaHei"/>
                <a:ea typeface="Microsoft YaHei"/>
                <a:cs typeface="Microsoft YaHei"/>
              </a:rPr>
              <a:t>Git / MkDocs / Wiki.js / Obsidian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F6BF79C1-8299-4EB6-8C9A-4C32B7D391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3371850"/>
            <a:ext cx="3962400" cy="419100"/>
          </a:xfrm>
          <a:prstGeom xmlns:a="http://schemas.openxmlformats.org/drawingml/2006/main" prst="roundRect">
            <a:avLst>
              <a:gd name="adj" fmla="val 27273"/>
            </a:avLst>
          </a:prstGeom>
          <a:solidFill xmlns:a="http://schemas.openxmlformats.org/drawingml/2006/main">
            <a:srgbClr val="142B56"/>
          </a:solidFill>
          <a:ln xmlns:a="http://schemas.openxmlformats.org/drawingml/2006/main" w="9525">
            <a:solidFill>
              <a:srgbClr val="2B4C84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D7A03AA7-9DA6-40D0-AC97-416809817A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3457575"/>
            <a:ext cx="247650" cy="2476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9B8D4"/>
          </a:solidFill>
          <a:ln xmlns:a="http://schemas.openxmlformats.org/drawingml/2006/main" w="9525">
            <a:solidFill>
              <a:srgbClr val="19B8D4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82079106-67EC-4622-A914-107E0C01B8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66850" y="3438525"/>
            <a:ext cx="11239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90909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125" b="1">
                <a:solidFill>
                  <a:srgbClr val="D9E5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1">
                <a:solidFill>
                  <a:srgbClr val="D9E5FF"/>
                </a:solidFill>
                <a:latin typeface="Microsoft YaHei"/>
                <a:ea typeface="Microsoft YaHei"/>
                <a:cs typeface="Microsoft YaHei"/>
              </a:rPr>
              <a:t>建立索引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80762492-12EA-41EC-81FD-9FD15872B9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90800" y="3438525"/>
            <a:ext cx="21717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975" b="0">
                <a:solidFill>
                  <a:srgbClr val="BFD0F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0">
                <a:solidFill>
                  <a:srgbClr val="BFD0F5"/>
                </a:solidFill>
                <a:latin typeface="Microsoft YaHei"/>
                <a:ea typeface="Microsoft YaHei"/>
                <a:cs typeface="Microsoft YaHei"/>
              </a:rPr>
              <a:t>文档、芯片、外设、版本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844CDC11-9C8C-4777-BDC1-1F20E3FAA8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3962400"/>
            <a:ext cx="3962400" cy="419100"/>
          </a:xfrm>
          <a:prstGeom xmlns:a="http://schemas.openxmlformats.org/drawingml/2006/main" prst="roundRect">
            <a:avLst>
              <a:gd name="adj" fmla="val 27273"/>
            </a:avLst>
          </a:prstGeom>
          <a:solidFill xmlns:a="http://schemas.openxmlformats.org/drawingml/2006/main">
            <a:srgbClr val="142B56"/>
          </a:solidFill>
          <a:ln xmlns:a="http://schemas.openxmlformats.org/drawingml/2006/main" w="9525">
            <a:solidFill>
              <a:srgbClr val="2B4C84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2E4FF9DC-B287-4585-B2D4-46230ACB89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4048125"/>
            <a:ext cx="247650" cy="2476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7A5AF8"/>
          </a:solidFill>
          <a:ln xmlns:a="http://schemas.openxmlformats.org/drawingml/2006/main" w="9525">
            <a:solidFill>
              <a:srgbClr val="7A5AF8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3B9CF9FD-6EBF-4F4F-91B8-98256633D3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66850" y="4029075"/>
            <a:ext cx="11239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90909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125" b="1">
                <a:solidFill>
                  <a:srgbClr val="D9E5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1">
                <a:solidFill>
                  <a:srgbClr val="D9E5FF"/>
                </a:solidFill>
                <a:latin typeface="Microsoft YaHei"/>
                <a:ea typeface="Microsoft YaHei"/>
                <a:cs typeface="Microsoft YaHei"/>
              </a:rPr>
              <a:t>按需检索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86A6FCEC-8F6F-497B-B03D-234AC349AC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90800" y="4029075"/>
            <a:ext cx="21717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975" b="0">
                <a:solidFill>
                  <a:srgbClr val="BFD0F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0">
                <a:solidFill>
                  <a:srgbClr val="BFD0F5"/>
                </a:solidFill>
                <a:latin typeface="Microsoft YaHei"/>
                <a:ea typeface="Microsoft YaHei"/>
                <a:cs typeface="Microsoft YaHei"/>
              </a:rPr>
              <a:t>字段、地址、芯片、版本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6C289591-29F0-4DB5-8B2F-8D251B74DF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4552950"/>
            <a:ext cx="3962400" cy="419100"/>
          </a:xfrm>
          <a:prstGeom xmlns:a="http://schemas.openxmlformats.org/drawingml/2006/main" prst="roundRect">
            <a:avLst>
              <a:gd name="adj" fmla="val 27273"/>
            </a:avLst>
          </a:prstGeom>
          <a:solidFill xmlns:a="http://schemas.openxmlformats.org/drawingml/2006/main">
            <a:srgbClr val="142B56"/>
          </a:solidFill>
          <a:ln xmlns:a="http://schemas.openxmlformats.org/drawingml/2006/main" w="9525">
            <a:solidFill>
              <a:srgbClr val="2B4C84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EC9BDD87-170C-441D-8CF1-949309C10A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4638675"/>
            <a:ext cx="247650" cy="2476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59E0B"/>
          </a:solidFill>
          <a:ln xmlns:a="http://schemas.openxmlformats.org/drawingml/2006/main" w="9525">
            <a:solidFill>
              <a:srgbClr val="F59E0B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BF2962E8-3298-46C0-8B87-B6E2F4556B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66850" y="4619625"/>
            <a:ext cx="11239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90909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125" b="1">
                <a:solidFill>
                  <a:srgbClr val="D9E5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1">
                <a:solidFill>
                  <a:srgbClr val="D9E5FF"/>
                </a:solidFill>
                <a:latin typeface="Microsoft YaHei"/>
                <a:ea typeface="Microsoft YaHei"/>
                <a:cs typeface="Microsoft YaHei"/>
              </a:rPr>
              <a:t>回写沉淀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410E278F-14EC-4164-8AD0-D4DC39F07D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90800" y="4619625"/>
            <a:ext cx="21717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975" b="0">
                <a:solidFill>
                  <a:srgbClr val="BFD0F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0">
                <a:solidFill>
                  <a:srgbClr val="BFD0F5"/>
                </a:solidFill>
                <a:latin typeface="Microsoft YaHei"/>
                <a:ea typeface="Microsoft YaHei"/>
                <a:cs typeface="Microsoft YaHei"/>
              </a:rPr>
              <a:t>输出结果可成为新知识</a:t>
            </a:r>
          </a:p>
        </p:txBody>
      </p:sp>
      <p:pic>
        <p:nvPicPr>
          <p:cNvPr id="47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45383249264b4bd9"/>
          <a:srcRect xmlns:a="http://schemas.openxmlformats.org/drawingml/2006/main" l="9212" t="0" r="9212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5810250" y="1981200"/>
            <a:ext cx="5638800" cy="3467100"/>
          </a:xfrm>
          <a:prstGeom xmlns:a="http://schemas.openxmlformats.org/drawingml/2006/main" prst="roundRect">
            <a:avLst>
              <a:gd name="adj" fmla="val 4945"/>
            </a:avLst>
          </a:prstGeom>
        </p:spPr>
      </p:pic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E8F38BF1-F3F5-43B7-BAAD-6753336147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9605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9E2F0"/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A2B2614B-36E2-4778-8E27-A3089AFEB4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72250"/>
            <a:ext cx="85725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825" b="0">
                <a:solidFill>
                  <a:srgbClr val="66758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825" b="0">
                <a:solidFill>
                  <a:srgbClr val="66758F"/>
                </a:solidFill>
                <a:latin typeface="Microsoft YaHei"/>
                <a:ea typeface="Microsoft YaHei"/>
                <a:cs typeface="Microsoft YaHei"/>
              </a:rPr>
              <a:t>MACODE FW AI AGENT  ·  AI 竞赛方案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864A5D3D-6478-4BDC-BAB4-3C5A64840C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572250"/>
            <a:ext cx="43815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10000"/>
              </a:lnSpc>
              <a:buNone/>
              <a:defRPr sz="825" b="1">
                <a:solidFill>
                  <a:srgbClr val="66758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825" b="1">
                <a:solidFill>
                  <a:srgbClr val="66758F"/>
                </a:solidFill>
                <a:latin typeface="Microsoft YaHei"/>
                <a:ea typeface="Microsoft YaHei"/>
                <a:cs typeface="Microsoft YaHei"/>
              </a:rPr>
              <a:t>07</a:t>
            </a:r>
          </a:p>
        </p:txBody>
      </p:sp>
    </p:spTree>
    <p:extLst>
      <p:ext uri="{BB962C8B-B14F-4D97-AF65-F5344CB8AC3E}">
        <p14:creationId xmlns:p14="http://schemas.microsoft.com/office/powerpoint/2010/main" val="191700597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5F8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7236A98D-457F-45DA-AD28-DD96832A0D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1950"/>
            <a:ext cx="10953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050" b="1">
                <a:solidFill>
                  <a:srgbClr val="2F6B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1">
                <a:solidFill>
                  <a:srgbClr val="2F6BFF"/>
                </a:solidFill>
                <a:latin typeface="Microsoft YaHei"/>
                <a:ea typeface="Microsoft YaHei"/>
                <a:cs typeface="Microsoft YaHei"/>
              </a:rPr>
              <a:t>07 产品体验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106B09C-3AC9-4E8D-9068-6A07EB02D3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7700"/>
            <a:ext cx="109537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2550" b="1">
                <a:solidFill>
                  <a:srgbClr val="0B163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550" b="1">
                <a:solidFill>
                  <a:srgbClr val="0B1630"/>
                </a:solidFill>
                <a:latin typeface="Microsoft YaHei"/>
                <a:ea typeface="Microsoft YaHei"/>
                <a:cs typeface="Microsoft YaHei"/>
              </a:rPr>
              <a:t>把复杂能力做成可操作的工作台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862DFF6-BE5D-4C35-93D7-EE9906F5D7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238250"/>
            <a:ext cx="10572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275" b="0">
                <a:solidFill>
                  <a:srgbClr val="66758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66758F"/>
                </a:solidFill>
                <a:latin typeface="Microsoft YaHei"/>
                <a:ea typeface="Microsoft YaHei"/>
                <a:cs typeface="Microsoft YaHei"/>
              </a:rPr>
              <a:t>同一套平台覆盖测试生成、图像生成与 Agent 生成</a:t>
            </a:r>
          </a:p>
        </p:txBody>
      </p:sp>
      <p:pic>
        <p:nvPicPr>
          <p:cNvPr id="18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eb1fb97bac0c456e"/>
          <a:srcRect xmlns:a="http://schemas.openxmlformats.org/drawingml/2006/main" l="7600" t="0" r="7600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666750" y="2019300"/>
            <a:ext cx="5143500" cy="3200400"/>
          </a:xfrm>
          <a:prstGeom xmlns:a="http://schemas.openxmlformats.org/drawingml/2006/main" prst="roundRect">
            <a:avLst>
              <a:gd name="adj" fmla="val 5357"/>
            </a:avLst>
          </a:prstGeom>
        </p:spPr>
      </p:pic>
      <p:pic>
        <p:nvPicPr>
          <p:cNvPr id="19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76b692c9ff8c4433"/>
          <a:srcRect xmlns:a="http://schemas.openxmlformats.org/drawingml/2006/main" l="9821" t="0" r="9821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6381750" y="2019300"/>
            <a:ext cx="5143500" cy="3200400"/>
          </a:xfrm>
          <a:prstGeom xmlns:a="http://schemas.openxmlformats.org/drawingml/2006/main" prst="roundRect">
            <a:avLst>
              <a:gd name="adj" fmla="val 5357"/>
            </a:avLst>
          </a:prstGeom>
        </p:spPr>
      </p:pic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3334A15-3523-4861-9331-981D813D4A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5410200"/>
            <a:ext cx="1619250" cy="2857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EAF1FF"/>
          </a:solidFill>
          <a:ln xmlns:a="http://schemas.openxmlformats.org/drawingml/2006/main" w="9525">
            <a:solidFill>
              <a:srgbClr val="EAF1FF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7427F15-28D4-4B46-9A9F-C2817E8F7F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5467350"/>
            <a:ext cx="161925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9324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0000"/>
              </a:lnSpc>
              <a:buNone/>
              <a:defRPr sz="975" b="1">
                <a:solidFill>
                  <a:srgbClr val="2F6B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1">
                <a:solidFill>
                  <a:srgbClr val="2F6BFF"/>
                </a:solidFill>
                <a:latin typeface="Microsoft YaHei"/>
                <a:ea typeface="Microsoft YaHei"/>
                <a:cs typeface="Microsoft YaHei"/>
              </a:rPr>
              <a:t>Image Generation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DDB8CED-673F-40F5-BCF5-ACF4FE6E2E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38400" y="5467350"/>
            <a:ext cx="3048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125" b="0">
                <a:solidFill>
                  <a:srgbClr val="66758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>
                <a:solidFill>
                  <a:srgbClr val="66758F"/>
                </a:solidFill>
                <a:latin typeface="Microsoft YaHei"/>
                <a:ea typeface="Microsoft YaHei"/>
                <a:cs typeface="Microsoft YaHei"/>
              </a:rPr>
              <a:t>生成系统方案图与参考图编辑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5217F2B1-8669-45ED-A1E0-94EA6B7B02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5410200"/>
            <a:ext cx="1619250" cy="2857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EAF1FF"/>
          </a:solidFill>
          <a:ln xmlns:a="http://schemas.openxmlformats.org/drawingml/2006/main" w="9525">
            <a:solidFill>
              <a:srgbClr val="EAF1FF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30F993BF-E7E9-4879-A5E3-7CB02F56E1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5467350"/>
            <a:ext cx="161925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9324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0000"/>
              </a:lnSpc>
              <a:buNone/>
              <a:defRPr sz="975" b="1">
                <a:solidFill>
                  <a:srgbClr val="2F6B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1">
                <a:solidFill>
                  <a:srgbClr val="2F6BFF"/>
                </a:solidFill>
                <a:latin typeface="Microsoft YaHei"/>
                <a:ea typeface="Microsoft YaHei"/>
                <a:cs typeface="Microsoft YaHei"/>
              </a:rPr>
              <a:t>Agent Generator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1BAFEEC1-86CB-41AE-9C07-C019681163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53400" y="5467350"/>
            <a:ext cx="3238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125" b="0">
                <a:solidFill>
                  <a:srgbClr val="66758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>
                <a:solidFill>
                  <a:srgbClr val="66758F"/>
                </a:solidFill>
                <a:latin typeface="Microsoft YaHei"/>
                <a:ea typeface="Microsoft YaHei"/>
                <a:cs typeface="Microsoft YaHei"/>
              </a:rPr>
              <a:t>把流程封装为可复用 Agent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F531B615-6C6B-4639-ABC9-8D39955B31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9605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9E2F0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9365372E-81EF-4C12-AE87-20E42B49D3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72250"/>
            <a:ext cx="85725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825" b="0">
                <a:solidFill>
                  <a:srgbClr val="66758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825" b="0">
                <a:solidFill>
                  <a:srgbClr val="66758F"/>
                </a:solidFill>
                <a:latin typeface="Microsoft YaHei"/>
                <a:ea typeface="Microsoft YaHei"/>
                <a:cs typeface="Microsoft YaHei"/>
              </a:rPr>
              <a:t>MACODE FW AI AGENT  ·  AI 竞赛方案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460BF817-F2DE-45F1-BFAF-8E11476558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572250"/>
            <a:ext cx="43815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10000"/>
              </a:lnSpc>
              <a:buNone/>
              <a:defRPr sz="825" b="1">
                <a:solidFill>
                  <a:srgbClr val="66758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825" b="1">
                <a:solidFill>
                  <a:srgbClr val="66758F"/>
                </a:solidFill>
                <a:latin typeface="Microsoft YaHei"/>
                <a:ea typeface="Microsoft YaHei"/>
                <a:cs typeface="Microsoft YaHei"/>
              </a:rPr>
              <a:t>08</a:t>
            </a:r>
          </a:p>
        </p:txBody>
      </p:sp>
    </p:spTree>
    <p:extLst>
      <p:ext uri="{BB962C8B-B14F-4D97-AF65-F5344CB8AC3E}">
        <p14:creationId xmlns:p14="http://schemas.microsoft.com/office/powerpoint/2010/main" val="1791078005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C87799E7-13DD-4FF0-A01A-64414BE705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1950"/>
            <a:ext cx="10953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050" b="1">
                <a:solidFill>
                  <a:srgbClr val="2F6B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1">
                <a:solidFill>
                  <a:srgbClr val="2F6BFF"/>
                </a:solidFill>
                <a:latin typeface="Microsoft YaHei"/>
                <a:ea typeface="Microsoft YaHei"/>
                <a:cs typeface="Microsoft YaHei"/>
              </a:rPr>
              <a:t>08 阶段性证据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5538D96-FFC5-4128-9F5B-839510BF61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7700"/>
            <a:ext cx="109537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2550" b="1">
                <a:solidFill>
                  <a:srgbClr val="0B163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550" b="1">
                <a:solidFill>
                  <a:srgbClr val="0B1630"/>
                </a:solidFill>
                <a:latin typeface="Microsoft YaHei"/>
                <a:ea typeface="Microsoft YaHei"/>
                <a:cs typeface="Microsoft YaHei"/>
              </a:rPr>
              <a:t>项目已具备参赛级的工程底座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4F81DC3-EE8C-403B-80BD-3C0319629E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238250"/>
            <a:ext cx="10572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275" b="0">
                <a:solidFill>
                  <a:srgbClr val="66758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66758F"/>
                </a:solidFill>
                <a:latin typeface="Microsoft YaHei"/>
                <a:ea typeface="Microsoft YaHei"/>
                <a:cs typeface="Microsoft YaHei"/>
              </a:rPr>
              <a:t>以下指标来自项目分析报告与阶段性实现报告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1C68E3E-CECF-4071-B817-474699B315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981200"/>
            <a:ext cx="5143500" cy="1257300"/>
          </a:xfrm>
          <a:prstGeom xmlns:a="http://schemas.openxmlformats.org/drawingml/2006/main" prst="roundRect">
            <a:avLst>
              <a:gd name="adj" fmla="val 13636"/>
            </a:avLst>
          </a:prstGeom>
          <a:solidFill xmlns:a="http://schemas.openxmlformats.org/drawingml/2006/main">
            <a:srgbClr val="F5F8FC"/>
          </a:solidFill>
          <a:ln xmlns:a="http://schemas.openxmlformats.org/drawingml/2006/main" w="9525">
            <a:solidFill>
              <a:srgbClr val="D9E2F0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10BF954-2AEE-4DDC-B767-3CCCD0CF38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2152650"/>
            <a:ext cx="1333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93583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2550" b="1">
                <a:solidFill>
                  <a:srgbClr val="2F6B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550" b="1">
                <a:solidFill>
                  <a:srgbClr val="2F6BFF"/>
                </a:solidFill>
                <a:latin typeface="Microsoft YaHei"/>
                <a:ea typeface="Microsoft YaHei"/>
                <a:cs typeface="Microsoft YaHei"/>
              </a:rPr>
              <a:t>7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CEFB0FB-3207-4FC0-B299-CB528780CA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00300" y="2190750"/>
            <a:ext cx="2857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90909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500" b="1">
                <a:solidFill>
                  <a:srgbClr val="0B163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0B1630"/>
                </a:solidFill>
                <a:latin typeface="Microsoft YaHei"/>
                <a:ea typeface="Microsoft YaHei"/>
                <a:cs typeface="Microsoft YaHei"/>
              </a:rPr>
              <a:t>专业 AI Agent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02A76B6-F8C9-4993-9B8D-931970F784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00300" y="2514600"/>
            <a:ext cx="30289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buNone/>
              <a:defRPr sz="1050" b="0">
                <a:solidFill>
                  <a:srgbClr val="66758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0">
                <a:solidFill>
                  <a:srgbClr val="66758F"/>
                </a:solidFill>
                <a:latin typeface="Microsoft YaHei"/>
                <a:ea typeface="Microsoft YaHei"/>
                <a:cs typeface="Microsoft YaHei"/>
              </a:rPr>
              <a:t>覆盖测试、驱动、构建、修复、调试、审查与对话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75488995-2F4F-433C-BC0E-6AEBA201D7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1981200"/>
            <a:ext cx="5143500" cy="1257300"/>
          </a:xfrm>
          <a:prstGeom xmlns:a="http://schemas.openxmlformats.org/drawingml/2006/main" prst="roundRect">
            <a:avLst>
              <a:gd name="adj" fmla="val 13636"/>
            </a:avLst>
          </a:prstGeom>
          <a:solidFill xmlns:a="http://schemas.openxmlformats.org/drawingml/2006/main">
            <a:srgbClr val="F5F8FC"/>
          </a:solidFill>
          <a:ln xmlns:a="http://schemas.openxmlformats.org/drawingml/2006/main" w="9525">
            <a:solidFill>
              <a:srgbClr val="D9E2F0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545C0EEF-3D47-42FF-9E05-5BD47961C9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24600" y="2152650"/>
            <a:ext cx="1333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93583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2550" b="1">
                <a:solidFill>
                  <a:srgbClr val="7A5AF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550" b="1">
                <a:solidFill>
                  <a:srgbClr val="7A5AF8"/>
                </a:solidFill>
                <a:latin typeface="Microsoft YaHei"/>
                <a:ea typeface="Microsoft YaHei"/>
                <a:cs typeface="Microsoft YaHei"/>
              </a:rPr>
              <a:t>6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3A79D30F-9BD2-4C84-A2A9-34C4E3806F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29550" y="2190750"/>
            <a:ext cx="2857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90909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500" b="1">
                <a:solidFill>
                  <a:srgbClr val="0B163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0B1630"/>
                </a:solidFill>
                <a:latin typeface="Microsoft YaHei"/>
                <a:ea typeface="Microsoft YaHei"/>
                <a:cs typeface="Microsoft YaHei"/>
              </a:rPr>
              <a:t>LLM Provider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C9B22DC4-36F6-4166-A0ED-2B0C4219F6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29550" y="2514600"/>
            <a:ext cx="30289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buNone/>
              <a:defRPr sz="1050" b="0">
                <a:solidFill>
                  <a:srgbClr val="66758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0">
                <a:solidFill>
                  <a:srgbClr val="66758F"/>
                </a:solidFill>
                <a:latin typeface="Microsoft YaHei"/>
                <a:ea typeface="Microsoft YaHei"/>
                <a:cs typeface="Microsoft YaHei"/>
              </a:rPr>
              <a:t>统一抽象 + 优先级选择 + 自动 Failover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5655F784-B3A0-4B85-851C-45C2417382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543300"/>
            <a:ext cx="5143500" cy="1257300"/>
          </a:xfrm>
          <a:prstGeom xmlns:a="http://schemas.openxmlformats.org/drawingml/2006/main" prst="roundRect">
            <a:avLst>
              <a:gd name="adj" fmla="val 13636"/>
            </a:avLst>
          </a:prstGeom>
          <a:solidFill xmlns:a="http://schemas.openxmlformats.org/drawingml/2006/main">
            <a:srgbClr val="F5F8FC"/>
          </a:solidFill>
          <a:ln xmlns:a="http://schemas.openxmlformats.org/drawingml/2006/main" w="9525">
            <a:solidFill>
              <a:srgbClr val="D9E2F0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E57A24D4-0E28-4B71-AADF-25B876483D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3714750"/>
            <a:ext cx="1333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93583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2550" b="1">
                <a:solidFill>
                  <a:srgbClr val="17A67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550" b="1">
                <a:solidFill>
                  <a:srgbClr val="17A673"/>
                </a:solidFill>
                <a:latin typeface="Microsoft YaHei"/>
                <a:ea typeface="Microsoft YaHei"/>
                <a:cs typeface="Microsoft YaHei"/>
              </a:rPr>
              <a:t>69.6%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E3ECD5F2-3087-4BE3-B049-88D380125A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00300" y="3752850"/>
            <a:ext cx="2857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90909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500" b="1">
                <a:solidFill>
                  <a:srgbClr val="0B163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0B1630"/>
                </a:solidFill>
                <a:latin typeface="Microsoft YaHei"/>
                <a:ea typeface="Microsoft YaHei"/>
                <a:cs typeface="Microsoft YaHei"/>
              </a:rPr>
              <a:t>端点代码减少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842A1F15-3DF1-4474-9359-A08FDEADF9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00300" y="4076700"/>
            <a:ext cx="30289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buNone/>
              <a:defRPr sz="1050" b="0">
                <a:solidFill>
                  <a:srgbClr val="66758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0">
                <a:solidFill>
                  <a:srgbClr val="66758F"/>
                </a:solidFill>
                <a:latin typeface="Microsoft YaHei"/>
                <a:ea typeface="Microsoft YaHei"/>
                <a:cs typeface="Microsoft YaHei"/>
              </a:rPr>
              <a:t>UnitTest 重构后，单体端点从 1,830 行降至 557 行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771ACB4F-1DBD-449D-82AD-F2AD2588AB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3543300"/>
            <a:ext cx="5143500" cy="1257300"/>
          </a:xfrm>
          <a:prstGeom xmlns:a="http://schemas.openxmlformats.org/drawingml/2006/main" prst="roundRect">
            <a:avLst>
              <a:gd name="adj" fmla="val 13636"/>
            </a:avLst>
          </a:prstGeom>
          <a:solidFill xmlns:a="http://schemas.openxmlformats.org/drawingml/2006/main">
            <a:srgbClr val="F5F8FC"/>
          </a:solidFill>
          <a:ln xmlns:a="http://schemas.openxmlformats.org/drawingml/2006/main" w="9525">
            <a:solidFill>
              <a:srgbClr val="D9E2F0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5D650BE4-3F14-4FA7-9390-0959B4E9E4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24600" y="3714750"/>
            <a:ext cx="1333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93583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2550" b="1">
                <a:solidFill>
                  <a:srgbClr val="F59E0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550" b="1">
                <a:solidFill>
                  <a:srgbClr val="F59E0B"/>
                </a:solidFill>
                <a:latin typeface="Microsoft YaHei"/>
                <a:ea typeface="Microsoft YaHei"/>
                <a:cs typeface="Microsoft YaHei"/>
              </a:rPr>
              <a:t>0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65F15EA3-BBF8-4A58-98F5-97CEEF3B05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29550" y="3752850"/>
            <a:ext cx="2857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90909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500" b="1">
                <a:solidFill>
                  <a:srgbClr val="0B163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0B1630"/>
                </a:solidFill>
                <a:latin typeface="Microsoft YaHei"/>
                <a:ea typeface="Microsoft YaHei"/>
                <a:cs typeface="Microsoft YaHei"/>
              </a:rPr>
              <a:t>层间违规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F9436C10-EBBD-4A83-B7CE-53340A9D3D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29550" y="4076700"/>
            <a:ext cx="30289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buNone/>
              <a:defRPr sz="1050" b="0">
                <a:solidFill>
                  <a:srgbClr val="66758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0">
                <a:solidFill>
                  <a:srgbClr val="66758F"/>
                </a:solidFill>
                <a:latin typeface="Microsoft YaHei"/>
                <a:ea typeface="Microsoft YaHei"/>
                <a:cs typeface="Microsoft YaHei"/>
              </a:rPr>
              <a:t>7 层架构约束下的审查结果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77DE7CD9-40B5-4F7A-8709-28A3DE5F89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5257800"/>
            <a:ext cx="10572750" cy="590550"/>
          </a:xfrm>
          <a:prstGeom xmlns:a="http://schemas.openxmlformats.org/drawingml/2006/main" prst="roundRect">
            <a:avLst>
              <a:gd name="adj" fmla="val 25806"/>
            </a:avLst>
          </a:prstGeom>
          <a:solidFill xmlns:a="http://schemas.openxmlformats.org/drawingml/2006/main">
            <a:srgbClr val="0B1630"/>
          </a:solidFill>
          <a:ln xmlns:a="http://schemas.openxmlformats.org/drawingml/2006/main" w="9525">
            <a:solidFill>
              <a:srgbClr val="0B1630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93ECDAC2-5C8C-4DBC-A52B-0C4A701C2D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5448300"/>
            <a:ext cx="10096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92593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0000"/>
              </a:lnSpc>
              <a:buNone/>
              <a:defRPr sz="13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验证视角：架构清晰、密钥后端管理、产物可下载、任务状态可追踪。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D25035FE-B5C3-40F1-AEB4-4B837A0AA8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9605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9E2F0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A6FB40A7-F312-43CE-AF2B-4119E7C44D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72250"/>
            <a:ext cx="85725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825" b="0">
                <a:solidFill>
                  <a:srgbClr val="66758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825" b="0">
                <a:solidFill>
                  <a:srgbClr val="66758F"/>
                </a:solidFill>
                <a:latin typeface="Microsoft YaHei"/>
                <a:ea typeface="Microsoft YaHei"/>
                <a:cs typeface="Microsoft YaHei"/>
              </a:rPr>
              <a:t>MACODE FW AI AGENT  ·  AI 竞赛方案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215EBC05-6A15-4CE7-8C2F-8B2E2E0A7A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572250"/>
            <a:ext cx="43815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10000"/>
              </a:lnSpc>
              <a:buNone/>
              <a:defRPr sz="825" b="1">
                <a:solidFill>
                  <a:srgbClr val="66758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825" b="1">
                <a:solidFill>
                  <a:srgbClr val="66758F"/>
                </a:solidFill>
                <a:latin typeface="Microsoft YaHei"/>
                <a:ea typeface="Microsoft YaHei"/>
                <a:cs typeface="Microsoft YaHei"/>
              </a:rPr>
              <a:t>09</a:t>
            </a:r>
          </a:p>
        </p:txBody>
      </p:sp>
    </p:spTree>
    <p:extLst>
      <p:ext uri="{BB962C8B-B14F-4D97-AF65-F5344CB8AC3E}">
        <p14:creationId xmlns:p14="http://schemas.microsoft.com/office/powerpoint/2010/main" val="83469002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0B1630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6A257BBF-8AD8-4988-9F94-0007F369BA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1950"/>
            <a:ext cx="10953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050" b="1">
                <a:solidFill>
                  <a:srgbClr val="2F6B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1">
                <a:solidFill>
                  <a:srgbClr val="2F6BFF"/>
                </a:solidFill>
                <a:latin typeface="Microsoft YaHei"/>
                <a:ea typeface="Microsoft YaHei"/>
                <a:cs typeface="Microsoft YaHei"/>
              </a:rPr>
              <a:t>09 竞争力与路线图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32617FA-87B5-45F7-A9BC-DA903D25C1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7700"/>
            <a:ext cx="109537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2550" b="1">
                <a:solidFill>
                  <a:srgbClr val="0B163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550" b="1">
                <a:solidFill>
                  <a:srgbClr val="0B1630"/>
                </a:solidFill>
                <a:latin typeface="Microsoft YaHei"/>
                <a:ea typeface="Microsoft YaHei"/>
                <a:cs typeface="Microsoft YaHei"/>
              </a:rPr>
              <a:t>核心竞争力来自“工程闭环 + 可复用知识”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31A5BAF-A7EA-44C3-922D-A92E724648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238250"/>
            <a:ext cx="10572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275" b="0">
                <a:solidFill>
                  <a:srgbClr val="66758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66758F"/>
                </a:solidFill>
                <a:latin typeface="Microsoft YaHei"/>
                <a:ea typeface="Microsoft YaHei"/>
                <a:cs typeface="Microsoft YaHei"/>
              </a:rPr>
              <a:t>让 AI 输出进入真实固件交付，而不是停留在聊天窗口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7A7BA0F-3FCC-4666-8322-BBB2E23718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2495550"/>
            <a:ext cx="104965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294774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EFF7227-F39E-418D-A212-A6A28565AF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2000250"/>
            <a:ext cx="1905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5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工程闭环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AAA2D2F-47EE-4153-8253-BC5DDF8D2D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0" y="2019300"/>
            <a:ext cx="5334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275" b="0">
                <a:solidFill>
                  <a:srgbClr val="C7D5F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C7D5F0"/>
                </a:solidFill>
                <a:latin typeface="Microsoft YaHei"/>
                <a:ea typeface="Microsoft YaHei"/>
                <a:cs typeface="Microsoft YaHei"/>
              </a:rPr>
              <a:t>编译、测试、审查结果进入同一任务链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9A2E213-E8A4-4524-BF67-A15B48DA1D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0" y="1981200"/>
            <a:ext cx="1143000" cy="2857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1B3566"/>
          </a:solidFill>
          <a:ln xmlns:a="http://schemas.openxmlformats.org/drawingml/2006/main" w="9525">
            <a:solidFill>
              <a:srgbClr val="1B3566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7EFFCC2-66DB-41CE-83C1-E1A6DDD8E6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0" y="2038350"/>
            <a:ext cx="11430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9324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0000"/>
              </a:lnSpc>
              <a:buNone/>
              <a:defRPr sz="975" b="1">
                <a:solidFill>
                  <a:srgbClr val="9FB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1">
                <a:solidFill>
                  <a:srgbClr val="9FBFFF"/>
                </a:solidFill>
                <a:latin typeface="Microsoft YaHei"/>
                <a:ea typeface="Microsoft YaHei"/>
                <a:cs typeface="Microsoft YaHei"/>
              </a:rPr>
              <a:t>可验证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3879F363-58DB-490B-A107-8923D4F350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3162300"/>
            <a:ext cx="104965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294774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3D3DA91E-DD56-4FD8-8D10-9C544B7D07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2667000"/>
            <a:ext cx="1905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5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模型解耦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B82C2FC5-EF9C-4A22-990F-FE1636752B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0" y="2686050"/>
            <a:ext cx="5334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275" b="0">
                <a:solidFill>
                  <a:srgbClr val="C7D5F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C7D5F0"/>
                </a:solidFill>
                <a:latin typeface="Microsoft YaHei"/>
                <a:ea typeface="Microsoft YaHei"/>
                <a:cs typeface="Microsoft YaHei"/>
              </a:rPr>
              <a:t>6 类 Provider 统一接入，故障自动切换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4A168784-FCA6-456E-9FBE-1B0BB2237C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0" y="2647950"/>
            <a:ext cx="1143000" cy="2857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1B3566"/>
          </a:solidFill>
          <a:ln xmlns:a="http://schemas.openxmlformats.org/drawingml/2006/main" w="9525">
            <a:solidFill>
              <a:srgbClr val="1B3566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9C7F109F-2CA1-4974-B970-8CCFB4C2A8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0" y="2705100"/>
            <a:ext cx="11430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9324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0000"/>
              </a:lnSpc>
              <a:buNone/>
              <a:defRPr sz="975" b="1">
                <a:solidFill>
                  <a:srgbClr val="9FB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1">
                <a:solidFill>
                  <a:srgbClr val="9FBFFF"/>
                </a:solidFill>
                <a:latin typeface="Microsoft YaHei"/>
                <a:ea typeface="Microsoft YaHei"/>
                <a:cs typeface="Microsoft YaHei"/>
              </a:rPr>
              <a:t>可持续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C7F8DA12-C0A9-4C20-B84B-C6D17CDE69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3829050"/>
            <a:ext cx="104965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294774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AED8F93D-70F3-4B17-85E0-479D79A192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3333750"/>
            <a:ext cx="1905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5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工具接入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AAB1F2F9-C523-40A5-BC83-23E22D6E81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0" y="3352800"/>
            <a:ext cx="5334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275" b="0">
                <a:solidFill>
                  <a:srgbClr val="C7D5F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C7D5F0"/>
                </a:solidFill>
                <a:latin typeface="Microsoft YaHei"/>
                <a:ea typeface="Microsoft YaHei"/>
                <a:cs typeface="Microsoft YaHei"/>
              </a:rPr>
              <a:t>MCP 连接芯片、构建、协作系统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DC85D3B4-3234-4D32-BE89-360BB998A7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0" y="3314700"/>
            <a:ext cx="1143000" cy="2857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1B3566"/>
          </a:solidFill>
          <a:ln xmlns:a="http://schemas.openxmlformats.org/drawingml/2006/main" w="9525">
            <a:solidFill>
              <a:srgbClr val="1B3566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F6CC4130-FB9E-4624-9A0E-68267F0007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0" y="3371850"/>
            <a:ext cx="11430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9324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0000"/>
              </a:lnSpc>
              <a:buNone/>
              <a:defRPr sz="975" b="1">
                <a:solidFill>
                  <a:srgbClr val="9FB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1">
                <a:solidFill>
                  <a:srgbClr val="9FBFFF"/>
                </a:solidFill>
                <a:latin typeface="Microsoft YaHei"/>
                <a:ea typeface="Microsoft YaHei"/>
                <a:cs typeface="Microsoft YaHei"/>
              </a:rPr>
              <a:t>可扩展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8B07034A-0DCB-48DD-9265-EE6AA14698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4495800"/>
            <a:ext cx="104965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294774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199BC20D-6BF1-45E6-B915-B048691F9C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4000500"/>
            <a:ext cx="1905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5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知识复用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389E2120-6E6E-413D-AD6E-899825044E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0" y="4019550"/>
            <a:ext cx="5334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275" b="0">
                <a:solidFill>
                  <a:srgbClr val="C7D5F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C7D5F0"/>
                </a:solidFill>
                <a:latin typeface="Microsoft YaHei"/>
                <a:ea typeface="Microsoft YaHei"/>
                <a:cs typeface="Microsoft YaHei"/>
              </a:rPr>
              <a:t>Register-first 检索，结果可回写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85E9274C-6B73-4F3C-A8BE-14483D8833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0" y="3981450"/>
            <a:ext cx="1143000" cy="2857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1B3566"/>
          </a:solidFill>
          <a:ln xmlns:a="http://schemas.openxmlformats.org/drawingml/2006/main" w="9525">
            <a:solidFill>
              <a:srgbClr val="1B3566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F8FF7FE5-C547-40C2-9253-7C1ED0CFE9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0" y="4038600"/>
            <a:ext cx="11430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9324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0000"/>
              </a:lnSpc>
              <a:buNone/>
              <a:defRPr sz="975" b="1">
                <a:solidFill>
                  <a:srgbClr val="9FB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1">
                <a:solidFill>
                  <a:srgbClr val="9FBFFF"/>
                </a:solidFill>
                <a:latin typeface="Microsoft YaHei"/>
                <a:ea typeface="Microsoft YaHei"/>
                <a:cs typeface="Microsoft YaHei"/>
              </a:rPr>
              <a:t>可积累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8DAA958F-9960-4573-8C34-057F485021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4933950"/>
            <a:ext cx="10477500" cy="838200"/>
          </a:xfrm>
          <a:prstGeom xmlns:a="http://schemas.openxmlformats.org/drawingml/2006/main" prst="roundRect">
            <a:avLst>
              <a:gd name="adj" fmla="val 22727"/>
            </a:avLst>
          </a:prstGeom>
          <a:solidFill xmlns:a="http://schemas.openxmlformats.org/drawingml/2006/main">
            <a:srgbClr val="142B56"/>
          </a:solidFill>
          <a:ln xmlns:a="http://schemas.openxmlformats.org/drawingml/2006/main" w="9525">
            <a:solidFill>
              <a:srgbClr val="2B4C84"/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2258FB6E-D73C-4B25-A000-093F6A2B8F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5143500"/>
            <a:ext cx="9715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125" b="1">
                <a:solidFill>
                  <a:srgbClr val="8FB3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1">
                <a:solidFill>
                  <a:srgbClr val="8FB3FF"/>
                </a:solidFill>
                <a:latin typeface="Microsoft YaHei"/>
                <a:ea typeface="Microsoft YaHei"/>
                <a:cs typeface="Microsoft YaHei"/>
              </a:rPr>
              <a:t>下一步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129857BE-2CA6-4AC4-984D-0C6A905BEE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5429250"/>
            <a:ext cx="9810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8658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57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扩展芯片知识覆盖、完善自动化评测、沉淀行业 Agent 模板。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A47BA73A-93FE-40B9-B2CB-C0008F7A70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6324600"/>
            <a:ext cx="10477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975" b="0">
                <a:solidFill>
                  <a:srgbClr val="90A6D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0">
                <a:solidFill>
                  <a:srgbClr val="90A6D2"/>
                </a:solidFill>
                <a:latin typeface="Microsoft YaHei"/>
                <a:ea typeface="Microsoft YaHei"/>
                <a:cs typeface="Microsoft YaHei"/>
              </a:rPr>
              <a:t>Macode FW AI Agent  ·  让固件研发从经验驱动走向可验证协同</a:t>
            </a:r>
          </a:p>
        </p:txBody>
      </p:sp>
    </p:spTree>
    <p:extLst>
      <p:ext uri="{BB962C8B-B14F-4D97-AF65-F5344CB8AC3E}">
        <p14:creationId xmlns:p14="http://schemas.microsoft.com/office/powerpoint/2010/main" val="374885360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2026-09-10T23:52:17.4470000Z</dcterms:created>
  <dcterms:modified xsi:type="dcterms:W3CDTF">2026-09-10T23:52:17.4470000Z</dcterms:modified>
</coreProperties>
</file>