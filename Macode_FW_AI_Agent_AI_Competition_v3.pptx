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76051e6c85b4364" /><Relationship Type="http://schemas.openxmlformats.org/officeDocument/2006/relationships/extended-properties" Target="/docProps/app.xml" Id="R4d5d3531e5524f92" /><Relationship Type="http://schemas.openxmlformats.org/officeDocument/2006/relationships/officeDocument" Target="/ppt/presentation.xml" Id="R8b292943238e4da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bc07e6e6109498a"/>
  </p:sldMasterIdLst>
  <p:notesMasterIdLst>
    <p:notesMasterId xmlns:r="http://schemas.openxmlformats.org/officeDocument/2006/relationships" r:id="R76e1a8d13f494d5b"/>
  </p:notesMasterIdLst>
  <p:sldIdLst>
    <p:sldId xmlns:r="http://schemas.openxmlformats.org/officeDocument/2006/relationships" id="256" r:id="Ra22cd4cd21d54aad"/>
    <p:sldId xmlns:r="http://schemas.openxmlformats.org/officeDocument/2006/relationships" id="257" r:id="R3de4b658b04847a0"/>
    <p:sldId xmlns:r="http://schemas.openxmlformats.org/officeDocument/2006/relationships" id="258" r:id="R89d7ae2222f54ca0"/>
    <p:sldId xmlns:r="http://schemas.openxmlformats.org/officeDocument/2006/relationships" id="259" r:id="Ra5c1636f8ce74c72"/>
    <p:sldId xmlns:r="http://schemas.openxmlformats.org/officeDocument/2006/relationships" id="260" r:id="Rfaf81a782fd7416f"/>
    <p:sldId xmlns:r="http://schemas.openxmlformats.org/officeDocument/2006/relationships" id="261" r:id="R12d391b4e5a84334"/>
    <p:sldId xmlns:r="http://schemas.openxmlformats.org/officeDocument/2006/relationships" id="262" r:id="R7a785feb4a4743c5"/>
    <p:sldId xmlns:r="http://schemas.openxmlformats.org/officeDocument/2006/relationships" id="263" r:id="R4f7af95f204b460c"/>
    <p:sldId xmlns:r="http://schemas.openxmlformats.org/officeDocument/2006/relationships" id="264" r:id="R9136ce1d55604222"/>
    <p:sldId xmlns:r="http://schemas.openxmlformats.org/officeDocument/2006/relationships" id="265" r:id="R9fa98c9b9bee47df"/>
    <p:sldId xmlns:r="http://schemas.openxmlformats.org/officeDocument/2006/relationships" id="266" r:id="Rec341f2b10794d4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6a8f1274aa34e74" /><Relationship Type="http://schemas.openxmlformats.org/officeDocument/2006/relationships/slideMaster" Target="/ppt/slideMasters/slideMaster1.xml" Id="Rabc07e6e6109498a" /><Relationship Type="http://schemas.openxmlformats.org/officeDocument/2006/relationships/notesMaster" Target="/ppt/notesMasters/notesMaster1.xml" Id="R76e1a8d13f494d5b" /><Relationship Type="http://schemas.openxmlformats.org/officeDocument/2006/relationships/presProps" Target="/ppt/presProps.xml" Id="R51658097407f4f49" /><Relationship Type="http://schemas.openxmlformats.org/officeDocument/2006/relationships/tableStyles" Target="/ppt/tableStyles.xml" Id="R026e557fbdd94759" /><Relationship Type="http://schemas.openxmlformats.org/officeDocument/2006/relationships/slide" Target="/ppt/slides/slide1.xml" Id="Ra22cd4cd21d54aad" /><Relationship Type="http://schemas.openxmlformats.org/officeDocument/2006/relationships/slide" Target="/ppt/slides/slide2.xml" Id="R3de4b658b04847a0" /><Relationship Type="http://schemas.openxmlformats.org/officeDocument/2006/relationships/slide" Target="/ppt/slides/slide3.xml" Id="R89d7ae2222f54ca0" /><Relationship Type="http://schemas.openxmlformats.org/officeDocument/2006/relationships/slide" Target="/ppt/slides/slide4.xml" Id="Ra5c1636f8ce74c72" /><Relationship Type="http://schemas.openxmlformats.org/officeDocument/2006/relationships/slide" Target="/ppt/slides/slide5.xml" Id="Rfaf81a782fd7416f" /><Relationship Type="http://schemas.openxmlformats.org/officeDocument/2006/relationships/slide" Target="/ppt/slides/slide6.xml" Id="R12d391b4e5a84334" /><Relationship Type="http://schemas.openxmlformats.org/officeDocument/2006/relationships/slide" Target="/ppt/slides/slide7.xml" Id="R7a785feb4a4743c5" /><Relationship Type="http://schemas.openxmlformats.org/officeDocument/2006/relationships/slide" Target="/ppt/slides/slide8.xml" Id="R4f7af95f204b460c" /><Relationship Type="http://schemas.openxmlformats.org/officeDocument/2006/relationships/slide" Target="/ppt/slides/slide9.xml" Id="R9136ce1d55604222" /><Relationship Type="http://schemas.openxmlformats.org/officeDocument/2006/relationships/slide" Target="/ppt/slides/slide10.xml" Id="R9fa98c9b9bee47df" /><Relationship Type="http://schemas.openxmlformats.org/officeDocument/2006/relationships/slide" Target="/ppt/slides/slide11.xml" Id="Rec341f2b10794d4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afa2ad5c92541e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0eb4af85ebf47fe" /><Relationship Type="http://schemas.openxmlformats.org/officeDocument/2006/relationships/notesMaster" Target="/ppt/notesMasters/notesMaster1.xml" Id="R07453f3fc3c442c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af7b7f591db4f38" /><Relationship Type="http://schemas.openxmlformats.org/officeDocument/2006/relationships/notesMaster" Target="/ppt/notesMasters/notesMaster1.xml" Id="R4b33b0a2c6fb49d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fc4499c97d24422" /><Relationship Type="http://schemas.openxmlformats.org/officeDocument/2006/relationships/notesMaster" Target="/ppt/notesMasters/notesMaster1.xml" Id="R181e7b9d718a4a6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b616098463249bc" /><Relationship Type="http://schemas.openxmlformats.org/officeDocument/2006/relationships/notesMaster" Target="/ppt/notesMasters/notesMaster1.xml" Id="R3d4e388c7ccd4fc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03a8b0d2ef049ac" /><Relationship Type="http://schemas.openxmlformats.org/officeDocument/2006/relationships/notesMaster" Target="/ppt/notesMasters/notesMaster1.xml" Id="Rb822cc7784744c1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7310bc8559946a8" /><Relationship Type="http://schemas.openxmlformats.org/officeDocument/2006/relationships/notesMaster" Target="/ppt/notesMasters/notesMaster1.xml" Id="Reca47d59a86f42f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9ff2683cd424651" /><Relationship Type="http://schemas.openxmlformats.org/officeDocument/2006/relationships/notesMaster" Target="/ppt/notesMasters/notesMaster1.xml" Id="R1b8939b4d679487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82b9160e7a14efa" /><Relationship Type="http://schemas.openxmlformats.org/officeDocument/2006/relationships/notesMaster" Target="/ppt/notesMasters/notesMaster1.xml" Id="Raa8dd6b315eb45c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a47a862049d4e0b" /><Relationship Type="http://schemas.openxmlformats.org/officeDocument/2006/relationships/notesMaster" Target="/ppt/notesMasters/notesMaster1.xml" Id="R6c6cbbae13564e4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0079a08b48842e1" /><Relationship Type="http://schemas.openxmlformats.org/officeDocument/2006/relationships/notesMaster" Target="/ppt/notesMasters/notesMaster1.xml" Id="R204b59c295db4b0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b6b9640112243dd" /><Relationship Type="http://schemas.openxmlformats.org/officeDocument/2006/relationships/notesMaster" Target="/ppt/notesMasters/notesMaster1.xml" Id="R43d8e46cb60d4c2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来源：项目 README.md、PROJECT_ANALYSIS_REPORT.md；封面指标为项目架构清单。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来源：PROJECT_ANALYSIS_REPORT.md 的架构与能力描述；问题表述为基于项目结构的归纳。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来源：README.md、docs/design、backend/app/orchestration；方案流程为项目能力的演示化表达。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来源：AGENTS.md、PROJECT_ANALYSIS_REPORT.md；系统分层按项目 7 层架构整理。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来源：docs/design/10-agent-execution-layer.md、docs/skill-agent-collaboration.md。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来源：docs/skill-agent-collaboration.md、backend/app/agents/impl/unittest/agent.py；90% 为长文件测试质量目标。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来源：docs/knowledge-quality-design.md、docs/knowledge-quality-evaluation.json；截图：C:/Users/Administrator/AppData/Local/Temp/codex-clipboard-1f5f3722-33ab-4d3d-91a3-35ccb5d34f53.png。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截图来源：C:/Users/Administrator/AppData/Local/Temp/codex-clipboard-f52b6791-b9ab-4c1b-97cd-9e8256781e93.png；C:/Users/Administrator/AppData/Local/Temp/codex-clipboard-734e4d89-a1a9-4d4d-b0b7-1051a60658a3.png。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来源：PROJECT_ANALYSIS_REPORT.md、backend/COMPLETE_IMPLEMENTATION_SUMMARY.md；指标为阶段性报告数据。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来源：README.md、docs/skill-agent-collaboration.md、docs/knowledge-quality-design.md；路线图为参赛演示建议。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3373396adbb44b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3a60b11bbd24e6e" /><Relationship Type="http://schemas.openxmlformats.org/officeDocument/2006/relationships/slideLayout" Target="/ppt/slideLayouts/slideLayout1.xml" Id="Rb5d68cb0a9434ab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5d68cb0a9434ab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2a807d8951495a" /><Relationship Type="http://schemas.openxmlformats.org/officeDocument/2006/relationships/image" Target="/ppt/media/image.png" Id="R3d7f58ff927045b5" /><Relationship Type="http://schemas.openxmlformats.org/officeDocument/2006/relationships/notesSlide" Target="/ppt/notesSlides/notesSlide1.xml" Id="R253a1f63fdef431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8c7d4a21a74813" /><Relationship Type="http://schemas.openxmlformats.org/officeDocument/2006/relationships/notesSlide" Target="/ppt/notesSlides/notesSlide2.xml" Id="R8e145f7dae9e433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d76ffccae042b2" /><Relationship Type="http://schemas.openxmlformats.org/officeDocument/2006/relationships/notesSlide" Target="/ppt/notesSlides/notesSlide3.xml" Id="R1628a6f95aa1433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6b1e9d8a124ded" /><Relationship Type="http://schemas.openxmlformats.org/officeDocument/2006/relationships/notesSlide" Target="/ppt/notesSlides/notesSlide4.xml" Id="R147bf85a7e6e40f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03c739b8b54d5c" /><Relationship Type="http://schemas.openxmlformats.org/officeDocument/2006/relationships/notesSlide" Target="/ppt/notesSlides/notesSlide5.xml" Id="R3a11a55fc69740f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35c6e339e2405c" /><Relationship Type="http://schemas.openxmlformats.org/officeDocument/2006/relationships/notesSlide" Target="/ppt/notesSlides/notesSlide6.xml" Id="R897bb2cbb31e42f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391e90088b483e" /><Relationship Type="http://schemas.openxmlformats.org/officeDocument/2006/relationships/image" Target="/ppt/media/image2.png" Id="R601d2cafe2984970" /><Relationship Type="http://schemas.openxmlformats.org/officeDocument/2006/relationships/notesSlide" Target="/ppt/notesSlides/notesSlide7.xml" Id="R297d8643c4884c4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d825f20ea24abd" /><Relationship Type="http://schemas.openxmlformats.org/officeDocument/2006/relationships/image" Target="/ppt/media/image3.png" Id="R23a9a9610dc64556" /><Relationship Type="http://schemas.openxmlformats.org/officeDocument/2006/relationships/image" Target="/ppt/media/image4.png" Id="R0e26be99612b45d6" /><Relationship Type="http://schemas.openxmlformats.org/officeDocument/2006/relationships/notesSlide" Target="/ppt/notesSlides/notesSlide8.xml" Id="R2ce1f33fa0e543b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76a062b1774bb9" /><Relationship Type="http://schemas.openxmlformats.org/officeDocument/2006/relationships/notesSlide" Target="/ppt/notesSlides/notesSlide9.xml" Id="R724f93e6a72145e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025ba39c694cc2" /><Relationship Type="http://schemas.openxmlformats.org/officeDocument/2006/relationships/notesSlide" Target="/ppt/notesSlides/notesSlide10.xml" Id="Ree48c67ff8824cc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cf434a8ecc4216" /><Relationship Type="http://schemas.openxmlformats.org/officeDocument/2006/relationships/notesSlide" Target="/ppt/notesSlides/notesSlide11.xml" Id="Rca88bf96568f411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63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1ACA757-43B5-4DCD-B837-251EE1C09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630"/>
          </a:solidFill>
          <a:ln xmlns:a="http://schemas.openxmlformats.org/drawingml/2006/main" w="9525">
            <a:solidFill>
              <a:srgbClr val="0B163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D384C3-B5DF-48F7-B391-08AA82D66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3810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044"/>
          </a:solidFill>
          <a:ln xmlns:a="http://schemas.openxmlformats.org/drawingml/2006/main" w="9525">
            <a:solidFill>
              <a:srgbClr val="10204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D5924F-7747-46CD-B6BF-FD9B9DB8E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4295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1">
                <a:solidFill>
                  <a:srgbClr val="8FB3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8FB3FF"/>
                </a:solidFill>
                <a:latin typeface="Microsoft YaHei"/>
                <a:ea typeface="Microsoft YaHei"/>
                <a:cs typeface="Microsoft YaHei"/>
              </a:rPr>
              <a:t>MACODE  ·  FW AI AGENT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E56EF4-28C3-450A-8434-786629C32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81125"/>
            <a:ext cx="61912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3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让固件开发\n进入可验证的智能协作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26D9C7-8BDE-4B2E-BF05-72798F2F7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81300"/>
            <a:ext cx="4857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0">
                <a:solidFill>
                  <a:srgbClr val="BFD0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BFD0F5"/>
                </a:solidFill>
                <a:latin typeface="Microsoft YaHei"/>
                <a:ea typeface="Microsoft YaHei"/>
                <a:cs typeface="Microsoft YaHei"/>
              </a:rPr>
              <a:t>面向固件研发的多智能体 AI 工作台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E73F08-9E20-4F45-A72B-BB7699E57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76650"/>
            <a:ext cx="16002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A2E5A"/>
          </a:solidFill>
          <a:ln xmlns:a="http://schemas.openxmlformats.org/drawingml/2006/main" w="9525">
            <a:solidFill>
              <a:srgbClr val="1A2E5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D0EF47-FD79-4A0D-A178-7BF122A8C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3380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9324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975" b="1">
                <a:solidFill>
                  <a:srgbClr val="A9C4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A9C4FF"/>
                </a:solidFill>
                <a:latin typeface="Microsoft YaHei"/>
                <a:ea typeface="Microsoft YaHei"/>
                <a:cs typeface="Microsoft YaHei"/>
              </a:rPr>
              <a:t>7 个专业 Agent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D7D4D8-0949-40F7-8DFF-947A20548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676650"/>
            <a:ext cx="16002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A2E5A"/>
          </a:solidFill>
          <a:ln xmlns:a="http://schemas.openxmlformats.org/drawingml/2006/main" w="9525">
            <a:solidFill>
              <a:srgbClr val="1A2E5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E391B3-4BAA-48DD-846B-E5E1CFEF7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73380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9324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975" b="1">
                <a:solidFill>
                  <a:srgbClr val="A9C4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A9C4FF"/>
                </a:solidFill>
                <a:latin typeface="Microsoft YaHei"/>
                <a:ea typeface="Microsoft YaHei"/>
                <a:cs typeface="Microsoft YaHei"/>
              </a:rPr>
              <a:t>6 个 LLM Provider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59816F-2B5E-4695-8A88-4B4A8DA16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676650"/>
            <a:ext cx="16002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A2E5A"/>
          </a:solidFill>
          <a:ln xmlns:a="http://schemas.openxmlformats.org/drawingml/2006/main" w="9525">
            <a:solidFill>
              <a:srgbClr val="1A2E5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703413-AE9A-4DA8-A8B9-B85B43EED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73380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9324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975" b="1">
                <a:solidFill>
                  <a:srgbClr val="A9C4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A9C4FF"/>
                </a:solidFill>
                <a:latin typeface="Microsoft YaHei"/>
                <a:ea typeface="Microsoft YaHei"/>
                <a:cs typeface="Microsoft YaHei"/>
              </a:rPr>
              <a:t>4 个 MCP Server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CF25BC-E51F-4E13-8B47-AC94565C8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57850"/>
            <a:ext cx="514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0">
                <a:solidFill>
                  <a:srgbClr val="90A6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90A6D2"/>
                </a:solidFill>
                <a:latin typeface="Microsoft YaHei"/>
                <a:ea typeface="Microsoft YaHei"/>
                <a:cs typeface="Microsoft YaHei"/>
              </a:rPr>
              <a:t>AI 大赛参赛方案  ·  2026</a:t>
            </a:r>
          </a:p>
        </p:txBody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7f58ff927045b5"/>
          <a:srcRect xmlns:a="http://schemas.openxmlformats.org/drawingml/2006/main" l="11413" t="0" r="1141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524750" y="895350"/>
            <a:ext cx="3905250" cy="2571750"/>
          </a:xfrm>
          <a:prstGeom xmlns:a="http://schemas.openxmlformats.org/drawingml/2006/main" prst="roundRect">
            <a:avLst>
              <a:gd name="adj" fmla="val 6667"/>
            </a:avLst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499578-0E8B-45F7-83E0-6B66E5B20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714750"/>
            <a:ext cx="4267200" cy="18288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142B56"/>
          </a:solidFill>
          <a:ln xmlns:a="http://schemas.openxmlformats.org/drawingml/2006/main" w="9525">
            <a:solidFill>
              <a:srgbClr val="2E4C8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C8857C-B16D-45CA-9AFF-1387B91A5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40195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953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从需求到验证，一条闭环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D52746-077C-405C-8043-15D86F8AD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4419600"/>
            <a:ext cx="3238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8FB3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8FB3FF"/>
                </a:solidFill>
                <a:latin typeface="Microsoft YaHei"/>
                <a:ea typeface="Microsoft YaHei"/>
                <a:cs typeface="Microsoft YaHei"/>
              </a:rPr>
              <a:t>Chat  →  Agent  →  Tool  →  Artifact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2315086-C134-4F96-8D93-FE130C0A4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5181600"/>
            <a:ext cx="333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0">
                <a:solidFill>
                  <a:srgbClr val="BFD0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BFD0F5"/>
                </a:solidFill>
                <a:latin typeface="Microsoft YaHei"/>
                <a:ea typeface="Microsoft YaHei"/>
                <a:cs typeface="Microsoft YaHei"/>
              </a:rPr>
              <a:t>代码、测试、知识与审查结果统一沉淀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746D28E-B409-4092-AFEA-DC4D76453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96050"/>
            <a:ext cx="1047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0">
                <a:solidFill>
                  <a:srgbClr val="7991B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991BE"/>
                </a:solidFill>
                <a:latin typeface="Microsoft YaHei"/>
                <a:ea typeface="Microsoft YaHei"/>
                <a:cs typeface="Microsoft YaHei"/>
              </a:rPr>
              <a:t>Macode Firmware Development Agent</a:t>
            </a:r>
          </a:p>
        </p:txBody>
      </p:sp>
    </p:spTree>
    <p:extLst>
      <p:ext uri="{BB962C8B-B14F-4D97-AF65-F5344CB8AC3E}">
        <p14:creationId xmlns:p14="http://schemas.microsoft.com/office/powerpoint/2010/main" val="53703798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B43CCFA-D941-4DBB-9563-38A393A10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5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rPr>
              <a:t>01 研发痛点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3030D2-C505-43D9-B5B9-9E7C8347C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550" b="1">
                <a:solidFill>
                  <a:srgbClr val="0B16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630"/>
                </a:solidFill>
                <a:latin typeface="Microsoft YaHei"/>
                <a:ea typeface="Microsoft YaHei"/>
                <a:cs typeface="Microsoft YaHei"/>
              </a:rPr>
              <a:t>固件研发的复杂度，集中在“验证”而不是“生成”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04B485-22B0-4725-91EA-9D37CC04A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0">
                <a:solidFill>
                  <a:srgbClr val="6675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58F"/>
                </a:solidFill>
                <a:latin typeface="Microsoft YaHei"/>
                <a:ea typeface="Microsoft YaHei"/>
                <a:cs typeface="Microsoft YaHei"/>
              </a:rPr>
              <a:t>需求、代码、工具链与知识分散，导致每次交付都重复走一遍人工路径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2A0117-3122-4934-91F9-91F1D2665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00250"/>
            <a:ext cx="3333750" cy="2190750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55AC8B-6CED-4098-9C75-4463F4668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479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9525">
            <a:solidFill>
              <a:srgbClr val="2F6B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1E15B4-43D6-4E47-8635-F94B85740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7172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333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FFA5F0-608E-4616-9AAA-893EFB807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33700"/>
            <a:ext cx="276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0B16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B1630"/>
                </a:solidFill>
                <a:latin typeface="Microsoft YaHei"/>
                <a:ea typeface="Microsoft YaHei"/>
                <a:cs typeface="Microsoft YaHei"/>
              </a:rPr>
              <a:t>上下文分散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AF075A-517E-4BD0-A379-31C006D07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352800"/>
            <a:ext cx="2781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442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75" b="0">
                <a:solidFill>
                  <a:srgbClr val="6675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58F"/>
                </a:solidFill>
                <a:latin typeface="Microsoft YaHei"/>
                <a:ea typeface="Microsoft YaHei"/>
                <a:cs typeface="Microsoft YaHei"/>
              </a:rPr>
              <a:t>需求在 Jira，寄存器在手册，代码在仓库，验证结果在日志里。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D31F6A-D918-49DC-BC40-F8A89D4C0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000250"/>
            <a:ext cx="3333750" cy="2190750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01619A-DD9C-4D9E-A19F-02D117B0A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2479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1B2F92-2BEA-491E-8EC0-88D53813D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37172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333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8D0DDB-2EEF-46D2-B963-23AFD59FC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933700"/>
            <a:ext cx="276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0B16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B1630"/>
                </a:solidFill>
                <a:latin typeface="Microsoft YaHei"/>
                <a:ea typeface="Microsoft YaHei"/>
                <a:cs typeface="Microsoft YaHei"/>
              </a:rPr>
              <a:t>工具链割裂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17E771-5A0F-4B9B-91A8-CE0653CCD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352800"/>
            <a:ext cx="2781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75" b="0">
                <a:solidFill>
                  <a:srgbClr val="6675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58F"/>
                </a:solidFill>
                <a:latin typeface="Microsoft YaHei"/>
                <a:ea typeface="Microsoft YaHei"/>
                <a:cs typeface="Microsoft YaHei"/>
              </a:rPr>
              <a:t>编译、测试、仿真、代码审查由不同工具承担，问题定位依赖个人经验。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CABB76-9583-46A0-874A-2FA9E5342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00250"/>
            <a:ext cx="3333750" cy="2190750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64C1D3-0D19-4A28-8E11-5E4A735F1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2479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A5AF8"/>
          </a:solidFill>
          <a:ln xmlns:a="http://schemas.openxmlformats.org/drawingml/2006/main" w="9525">
            <a:solidFill>
              <a:srgbClr val="7A5AF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3F75161-C31E-45B8-B391-8F421E757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37172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333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837344-E5E4-409B-B750-9F6CEB9DA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933700"/>
            <a:ext cx="276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0B16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B1630"/>
                </a:solidFill>
                <a:latin typeface="Microsoft YaHei"/>
                <a:ea typeface="Microsoft YaHei"/>
                <a:cs typeface="Microsoft YaHei"/>
              </a:rPr>
              <a:t>交付难复用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F20457D-D809-4558-BEC9-E0AA9DAB5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352800"/>
            <a:ext cx="2781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75" b="0">
                <a:solidFill>
                  <a:srgbClr val="6675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58F"/>
                </a:solidFill>
                <a:latin typeface="Microsoft YaHei"/>
                <a:ea typeface="Microsoft YaHei"/>
                <a:cs typeface="Microsoft YaHei"/>
              </a:rPr>
              <a:t>一次解决方案没有形成可检索知识，下一次仍从零开始。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C534111-0A50-4F75-8BE4-13BF57343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86300"/>
            <a:ext cx="10763250" cy="1066800"/>
          </a:xfrm>
          <a:prstGeom xmlns:a="http://schemas.openxmlformats.org/drawingml/2006/main" prst="roundRect">
            <a:avLst>
              <a:gd name="adj" fmla="val 17857"/>
            </a:avLst>
          </a:prstGeom>
          <a:solidFill xmlns:a="http://schemas.openxmlformats.org/drawingml/2006/main">
            <a:srgbClr val="0B1630"/>
          </a:solidFill>
          <a:ln xmlns:a="http://schemas.openxmlformats.org/drawingml/2006/main" w="9525">
            <a:solidFill>
              <a:srgbClr val="0B163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15ACD47-3776-418C-B4AE-93DFE5DE3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5300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94B4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94B4FF"/>
                </a:solidFill>
                <a:latin typeface="Microsoft YaHei"/>
                <a:ea typeface="Microsoft YaHei"/>
                <a:cs typeface="Microsoft YaHei"/>
              </a:rPr>
              <a:t>关键机会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09D7447-4BD9-4343-978E-54EEDB365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248275"/>
            <a:ext cx="981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090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把“经验驱动的串行流程”变成“Agent 驱动的可追溯闭环”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DE4B17D-BDAD-40CD-9F48-D5FA90E6F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F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ECF649E-FC1B-41CF-9510-FF6889EAE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857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6675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6758F"/>
                </a:solidFill>
                <a:latin typeface="Microsoft YaHei"/>
                <a:ea typeface="Microsoft YaHei"/>
                <a:cs typeface="Microsoft YaHei"/>
              </a:rPr>
              <a:t>MACODE FW AI AGENT  ·  AI 竞赛方案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361B723-3AEC-4797-93BA-A77B1A0DC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72250"/>
            <a:ext cx="4381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825" b="1">
                <a:solidFill>
                  <a:srgbClr val="6675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6758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42277007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9A732FD-3EFC-430B-9C3A-E736F2C71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5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rPr>
              <a:t>02 核心方案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DEE259-2A33-4010-AAA7-D6055F563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550" b="1">
                <a:solidFill>
                  <a:srgbClr val="0B16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630"/>
                </a:solidFill>
                <a:latin typeface="Microsoft YaHei"/>
                <a:ea typeface="Microsoft YaHei"/>
                <a:cs typeface="Microsoft YaHei"/>
              </a:rPr>
              <a:t>一个工作台，连接需求、智能体、工具与证据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D5AB09-56C0-476B-ADDD-2D42F2F8C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0">
                <a:solidFill>
                  <a:srgbClr val="6675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58F"/>
                </a:solidFill>
                <a:latin typeface="Microsoft YaHei"/>
                <a:ea typeface="Microsoft YaHei"/>
                <a:cs typeface="Microsoft YaHei"/>
              </a:rPr>
              <a:t>以任务为中心组织研发上下文，让每次输出都带着验证记录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9FEFD6-BC13-40FA-8402-AD15CA880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47900"/>
            <a:ext cx="1809750" cy="1619250"/>
          </a:xfrm>
          <a:prstGeom xmlns:a="http://schemas.openxmlformats.org/drawingml/2006/main" prst="roundRect">
            <a:avLst>
              <a:gd name="adj" fmla="val 12941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2F6B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90CB58-2FBA-4F3A-B9D2-E26149381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574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9525">
            <a:solidFill>
              <a:srgbClr val="2F6B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1B75F9-FC37-47C1-AB7E-DE6C23E74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62225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417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4220CC-6B8E-44FA-A6ED-77F0D49FA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480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264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0B16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630"/>
                </a:solidFill>
                <a:latin typeface="Microsoft YaHei"/>
                <a:ea typeface="Microsoft YaHei"/>
                <a:cs typeface="Microsoft YaHei"/>
              </a:rPr>
              <a:t>输入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E3FB60-3A5F-4D26-A19A-BBFDA8C69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71850"/>
            <a:ext cx="142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548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6675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58F"/>
                </a:solidFill>
                <a:latin typeface="Microsoft YaHei"/>
                <a:ea typeface="Microsoft YaHei"/>
                <a:cs typeface="Microsoft YaHei"/>
              </a:rPr>
              <a:t>自然语言需求\n代码 / 日志 / 文档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0028FC-CBA3-4DC7-B8E1-F970CA6D8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81940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116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100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CB93AC-D862-40B2-9981-C6CDA0902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247900"/>
            <a:ext cx="1809750" cy="1619250"/>
          </a:xfrm>
          <a:prstGeom xmlns:a="http://schemas.openxmlformats.org/drawingml/2006/main" prst="roundRect">
            <a:avLst>
              <a:gd name="adj" fmla="val 12941"/>
            </a:avLst>
          </a:prstGeom>
          <a:solidFill xmlns:a="http://schemas.openxmlformats.org/drawingml/2006/main">
            <a:srgbClr val="F1EDFF"/>
          </a:solidFill>
          <a:ln xmlns:a="http://schemas.openxmlformats.org/drawingml/2006/main" w="9525">
            <a:solidFill>
              <a:srgbClr val="7A5AF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FB0A04-7BE4-43A1-82C1-EEBCBA719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4574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A5AF8"/>
          </a:solidFill>
          <a:ln xmlns:a="http://schemas.openxmlformats.org/drawingml/2006/main" w="9525">
            <a:solidFill>
              <a:srgbClr val="7A5AF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E47C61-E4A0-435E-8495-D08377DC7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562225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417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A27414-13CF-471F-9052-AFABA9F1E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0480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264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0B16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630"/>
                </a:solidFill>
                <a:latin typeface="Microsoft YaHei"/>
                <a:ea typeface="Microsoft YaHei"/>
                <a:cs typeface="Microsoft YaHei"/>
              </a:rPr>
              <a:t>理解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52F55B-B21F-4E73-9A5F-085FF317C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371850"/>
            <a:ext cx="142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548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6675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58F"/>
                </a:solidFill>
                <a:latin typeface="Microsoft YaHei"/>
                <a:ea typeface="Microsoft YaHei"/>
                <a:cs typeface="Microsoft YaHei"/>
              </a:rPr>
              <a:t>意图识别\n上下文拼装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65BDC1-894D-4513-BCAD-7C3F1C431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81940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116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100" b="1">
                <a:solidFill>
                  <a:srgbClr val="7A5A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7A5AF8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2C5015-C3FE-418A-9DC9-F5C2FD99C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247900"/>
            <a:ext cx="1809750" cy="1619250"/>
          </a:xfrm>
          <a:prstGeom xmlns:a="http://schemas.openxmlformats.org/drawingml/2006/main" prst="roundRect">
            <a:avLst>
              <a:gd name="adj" fmla="val 12941"/>
            </a:avLst>
          </a:prstGeom>
          <a:solidFill xmlns:a="http://schemas.openxmlformats.org/drawingml/2006/main">
            <a:srgbClr val="E7FAFC"/>
          </a:solidFill>
          <a:ln xmlns:a="http://schemas.openxmlformats.org/drawingml/2006/main" w="9525">
            <a:solidFill>
              <a:srgbClr val="19B8D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F72DAD-F8C7-45A4-83B8-D35309BA1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4574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B8D4"/>
          </a:solidFill>
          <a:ln xmlns:a="http://schemas.openxmlformats.org/drawingml/2006/main" w="9525">
            <a:solidFill>
              <a:srgbClr val="19B8D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AFB3B01-800B-4196-9A6C-C60E31C0A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562225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417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03E7A8B-B909-4299-BD7E-406F0144E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0480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264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0B16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630"/>
                </a:solidFill>
                <a:latin typeface="Microsoft YaHei"/>
                <a:ea typeface="Microsoft YaHei"/>
                <a:cs typeface="Microsoft YaHei"/>
              </a:rPr>
              <a:t>执行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F964FEA-273B-4BA8-BFD4-5A9E041DA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371850"/>
            <a:ext cx="142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548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6675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58F"/>
                </a:solidFill>
                <a:latin typeface="Microsoft YaHei"/>
                <a:ea typeface="Microsoft YaHei"/>
                <a:cs typeface="Microsoft YaHei"/>
              </a:rPr>
              <a:t>专业 Agent\nMCP 工具调用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63C7BE3-FF95-4321-BC3E-0DF422CF6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81940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116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100" b="1">
                <a:solidFill>
                  <a:srgbClr val="19B8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9B8D4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538D131-589C-4A45-A7C6-925C86DBB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247900"/>
            <a:ext cx="1809750" cy="1619250"/>
          </a:xfrm>
          <a:prstGeom xmlns:a="http://schemas.openxmlformats.org/drawingml/2006/main" prst="roundRect">
            <a:avLst>
              <a:gd name="adj" fmla="val 12941"/>
            </a:avLst>
          </a:prstGeom>
          <a:solidFill xmlns:a="http://schemas.openxmlformats.org/drawingml/2006/main">
            <a:srgbClr val="E8F8F1"/>
          </a:solidFill>
          <a:ln xmlns:a="http://schemas.openxmlformats.org/drawingml/2006/main" w="9525">
            <a:solidFill>
              <a:srgbClr val="17A67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61A02E0-7E27-4EC6-8EEE-8CE5813E2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4574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A673"/>
          </a:solidFill>
          <a:ln xmlns:a="http://schemas.openxmlformats.org/drawingml/2006/main" w="9525">
            <a:solidFill>
              <a:srgbClr val="17A67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1F4EF41-7E6A-4166-AF6A-7001B5717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562225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417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750C26E-2AF5-44EC-9497-553C6458D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0480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264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0B16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630"/>
                </a:solidFill>
                <a:latin typeface="Microsoft YaHei"/>
                <a:ea typeface="Microsoft YaHei"/>
                <a:cs typeface="Microsoft YaHei"/>
              </a:rPr>
              <a:t>验证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75C0EAF-5F35-4199-97AA-27F4048C6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371850"/>
            <a:ext cx="142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548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6675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58F"/>
                </a:solidFill>
                <a:latin typeface="Microsoft YaHei"/>
                <a:ea typeface="Microsoft YaHei"/>
                <a:cs typeface="Microsoft YaHei"/>
              </a:rPr>
              <a:t>编译 · 测试\n覆盖率 · 审查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B3DE99C-7943-4FEE-A4F1-A8B88E5DA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81940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116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100" b="1">
                <a:solidFill>
                  <a:srgbClr val="17A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7A673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DAF7A15-6E2A-4979-9445-30BE7C9CA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247900"/>
            <a:ext cx="1809750" cy="1619250"/>
          </a:xfrm>
          <a:prstGeom xmlns:a="http://schemas.openxmlformats.org/drawingml/2006/main" prst="roundRect">
            <a:avLst>
              <a:gd name="adj" fmla="val 12941"/>
            </a:avLst>
          </a:prstGeom>
          <a:solidFill xmlns:a="http://schemas.openxmlformats.org/drawingml/2006/main">
            <a:srgbClr val="FFF5DE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F24FCED-30B4-46DF-9712-0C22DA3B8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4574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A0EB707-5849-42E6-93F4-5036651AA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562225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417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C2AC373-E83B-4ABA-AC55-B76600DC4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0480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264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0B16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630"/>
                </a:solidFill>
                <a:latin typeface="Microsoft YaHei"/>
                <a:ea typeface="Microsoft YaHei"/>
                <a:cs typeface="Microsoft YaHei"/>
              </a:rPr>
              <a:t>沉淀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10824E9-63C8-4177-BD3A-D5BA1FA6F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371850"/>
            <a:ext cx="142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548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6675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58F"/>
                </a:solidFill>
                <a:latin typeface="Microsoft YaHei"/>
                <a:ea typeface="Microsoft YaHei"/>
                <a:cs typeface="Microsoft YaHei"/>
              </a:rPr>
              <a:t>产物归档\n知识可检索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A0CD915-6CF5-423C-B350-AE6434867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57700"/>
            <a:ext cx="10763250" cy="1162050"/>
          </a:xfrm>
          <a:prstGeom xmlns:a="http://schemas.openxmlformats.org/drawingml/2006/main" prst="roundRect">
            <a:avLst>
              <a:gd name="adj" fmla="val 18033"/>
            </a:avLst>
          </a:prstGeom>
          <a:solidFill xmlns:a="http://schemas.openxmlformats.org/drawingml/2006/main">
            <a:srgbClr val="0F2044"/>
          </a:solidFill>
          <a:ln xmlns:a="http://schemas.openxmlformats.org/drawingml/2006/main" w="9525">
            <a:solidFill>
              <a:srgbClr val="0F2044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330E091-B2F9-45FD-AD84-B6F2D08B2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33925"/>
            <a:ext cx="933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8FB3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8FB3FF"/>
                </a:solidFill>
                <a:latin typeface="Microsoft YaHei"/>
                <a:ea typeface="Microsoft YaHei"/>
                <a:cs typeface="Microsoft YaHei"/>
              </a:rPr>
              <a:t>方案核心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EDB6976-BB52-40CD-AA69-7F252886E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67300"/>
            <a:ext cx="981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每个 Agent 都共享同一套 LLM 抽象、知识检索与构建能力，输出可复核、可复用。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37D1493-E529-40F2-820A-2025959FD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F0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64D17B8-1464-48EC-A920-A89DFA777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857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6675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6758F"/>
                </a:solidFill>
                <a:latin typeface="Microsoft YaHei"/>
                <a:ea typeface="Microsoft YaHei"/>
                <a:cs typeface="Microsoft YaHei"/>
              </a:rPr>
              <a:t>MACODE FW AI AGENT  ·  AI 竞赛方案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84D084D-6657-4780-A716-F69975A91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72250"/>
            <a:ext cx="4381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825" b="1">
                <a:solidFill>
                  <a:srgbClr val="6675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6758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18158259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935A391-7BB2-477C-ADD9-3648D9A7B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5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rPr>
              <a:t>03 系统框图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49D98F-B992-43B8-B332-E604E90D4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550" b="1">
                <a:solidFill>
                  <a:srgbClr val="0B16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630"/>
                </a:solidFill>
                <a:latin typeface="Microsoft YaHei"/>
                <a:ea typeface="Microsoft YaHei"/>
                <a:cs typeface="Microsoft YaHei"/>
              </a:rPr>
              <a:t>7 层架构，把智能能力放进工程边界内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157E56-7177-4176-89E4-A28FA356D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0">
                <a:solidFill>
                  <a:srgbClr val="6675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58F"/>
                </a:solidFill>
                <a:latin typeface="Microsoft YaHei"/>
                <a:ea typeface="Microsoft YaHei"/>
                <a:cs typeface="Microsoft YaHei"/>
              </a:rPr>
              <a:t>前端只走 API，模型、工具、数据与安全策略在后端统一治理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0481F3-2011-4A0C-B529-7F83D60BF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28800"/>
            <a:ext cx="9620250" cy="409575"/>
          </a:xfrm>
          <a:prstGeom xmlns:a="http://schemas.openxmlformats.org/drawingml/2006/main" prst="roundRect">
            <a:avLst>
              <a:gd name="adj" fmla="val 23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F6B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C8C8E9-28C4-44CC-9080-0A75303CE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28800"/>
            <a:ext cx="1714500" cy="409575"/>
          </a:xfrm>
          <a:prstGeom xmlns:a="http://schemas.openxmlformats.org/drawingml/2006/main" prst="roundRect">
            <a:avLst>
              <a:gd name="adj" fmla="val 23256"/>
            </a:avLst>
          </a:prstGeom>
          <a:solidFill xmlns:a="http://schemas.openxmlformats.org/drawingml/2006/main">
            <a:srgbClr val="2F6BFF"/>
          </a:solidFill>
          <a:ln xmlns:a="http://schemas.openxmlformats.org/drawingml/2006/main" w="9525">
            <a:solidFill>
              <a:srgbClr val="2F6B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45C536-CDB6-4870-84B6-FFB91AA9D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469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L7  UI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32D3C3-341D-4680-A2F7-8A418EEC0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933575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469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0">
                <a:solidFill>
                  <a:srgbClr val="1221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2213A"/>
                </a:solidFill>
                <a:latin typeface="Microsoft YaHei"/>
                <a:ea typeface="Microsoft YaHei"/>
                <a:cs typeface="Microsoft YaHei"/>
              </a:rPr>
              <a:t>任务工作台 · Agent 生成 · 图像生成 · 知识库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B18E89-5029-4B5B-B46B-FC80A0662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1914525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264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650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rPr>
              <a:t>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F06374-95D6-4560-B47D-A15418424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81250"/>
            <a:ext cx="9620250" cy="409575"/>
          </a:xfrm>
          <a:prstGeom xmlns:a="http://schemas.openxmlformats.org/drawingml/2006/main" prst="roundRect">
            <a:avLst>
              <a:gd name="adj" fmla="val 23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9B8D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0876B6-B8AF-4890-9C7B-8A7257FCA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81250"/>
            <a:ext cx="1714500" cy="409575"/>
          </a:xfrm>
          <a:prstGeom xmlns:a="http://schemas.openxmlformats.org/drawingml/2006/main" prst="roundRect">
            <a:avLst>
              <a:gd name="adj" fmla="val 23256"/>
            </a:avLst>
          </a:prstGeom>
          <a:solidFill xmlns:a="http://schemas.openxmlformats.org/drawingml/2006/main">
            <a:srgbClr val="19B8D4"/>
          </a:solidFill>
          <a:ln xmlns:a="http://schemas.openxmlformats.org/drawingml/2006/main" w="9525">
            <a:solidFill>
              <a:srgbClr val="19B8D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C0E8AA-1668-4F08-BB2C-973684C06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4860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469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L6  API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90ECB2-01B4-4381-9A2F-C26536914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486025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469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0">
                <a:solidFill>
                  <a:srgbClr val="1221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2213A"/>
                </a:solidFill>
                <a:latin typeface="Microsoft YaHei"/>
                <a:ea typeface="Microsoft YaHei"/>
                <a:cs typeface="Microsoft YaHei"/>
              </a:rPr>
              <a:t>JWT · REST / WebSocket · 限流 · CORS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EDB4A8-8316-4E80-86ED-AC02DF0A4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2466975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264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650" b="1">
                <a:solidFill>
                  <a:srgbClr val="19B8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9B8D4"/>
                </a:solidFill>
                <a:latin typeface="Microsoft YaHei"/>
                <a:ea typeface="Microsoft YaHei"/>
                <a:cs typeface="Microsoft YaHei"/>
              </a:rPr>
              <a:t>↓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EC349A-C9AA-42E2-A7C7-031427DE5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33700"/>
            <a:ext cx="9620250" cy="409575"/>
          </a:xfrm>
          <a:prstGeom xmlns:a="http://schemas.openxmlformats.org/drawingml/2006/main" prst="roundRect">
            <a:avLst>
              <a:gd name="adj" fmla="val 23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A5AF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2C170A-E749-4F63-8C78-FE1673191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33700"/>
            <a:ext cx="1714500" cy="409575"/>
          </a:xfrm>
          <a:prstGeom xmlns:a="http://schemas.openxmlformats.org/drawingml/2006/main" prst="roundRect">
            <a:avLst>
              <a:gd name="adj" fmla="val 23256"/>
            </a:avLst>
          </a:prstGeom>
          <a:solidFill xmlns:a="http://schemas.openxmlformats.org/drawingml/2006/main">
            <a:srgbClr val="7A5AF8"/>
          </a:solidFill>
          <a:ln xmlns:a="http://schemas.openxmlformats.org/drawingml/2006/main" w="9525">
            <a:solidFill>
              <a:srgbClr val="7A5AF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BF569E2-55E4-4094-96F5-C9A477527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3847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469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L5  Flow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0FA3056-CEE8-4158-93C4-AD4B9DE55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038475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469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0">
                <a:solidFill>
                  <a:srgbClr val="1221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2213A"/>
                </a:solidFill>
                <a:latin typeface="Microsoft YaHei"/>
                <a:ea typeface="Microsoft YaHei"/>
                <a:cs typeface="Microsoft YaHei"/>
              </a:rPr>
              <a:t>Chat Router · LangGraph Workflow · 任务状态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687EF94-2249-42E2-846A-C4FE3521F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3019425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264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650" b="1">
                <a:solidFill>
                  <a:srgbClr val="7A5A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7A5AF8"/>
                </a:solidFill>
                <a:latin typeface="Microsoft YaHei"/>
                <a:ea typeface="Microsoft YaHei"/>
                <a:cs typeface="Microsoft YaHei"/>
              </a:rPr>
              <a:t>↓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22F505C-B337-4EC0-8988-C89A972B6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86150"/>
            <a:ext cx="9620250" cy="409575"/>
          </a:xfrm>
          <a:prstGeom xmlns:a="http://schemas.openxmlformats.org/drawingml/2006/main" prst="roundRect">
            <a:avLst>
              <a:gd name="adj" fmla="val 23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22B3CE0-B5A5-4D10-B104-430B37A57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86150"/>
            <a:ext cx="1714500" cy="409575"/>
          </a:xfrm>
          <a:prstGeom xmlns:a="http://schemas.openxmlformats.org/drawingml/2006/main" prst="roundRect">
            <a:avLst>
              <a:gd name="adj" fmla="val 23256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F590641-C957-4B7B-B759-202A34A2C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5909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469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L4  Agents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7948561-FA72-43FB-AB79-D846B3AA5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590925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469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0">
                <a:solidFill>
                  <a:srgbClr val="1221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2213A"/>
                </a:solidFill>
                <a:latin typeface="Microsoft YaHei"/>
                <a:ea typeface="Microsoft YaHei"/>
                <a:cs typeface="Microsoft YaHei"/>
              </a:rPr>
              <a:t>UnitTest · Driver · Build · BugFix · Debug · Review · Chat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1C3B3FD-7D19-45AA-A7FA-D042DC9C2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3571875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264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65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↓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14DFD86-DF19-432E-B551-E064C5720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38600"/>
            <a:ext cx="9620250" cy="409575"/>
          </a:xfrm>
          <a:prstGeom xmlns:a="http://schemas.openxmlformats.org/drawingml/2006/main" prst="roundRect">
            <a:avLst>
              <a:gd name="adj" fmla="val 23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7A67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5A08F2E-3038-440E-A495-41FCFCDB9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38600"/>
            <a:ext cx="1714500" cy="409575"/>
          </a:xfrm>
          <a:prstGeom xmlns:a="http://schemas.openxmlformats.org/drawingml/2006/main" prst="roundRect">
            <a:avLst>
              <a:gd name="adj" fmla="val 23256"/>
            </a:avLst>
          </a:prstGeom>
          <a:solidFill xmlns:a="http://schemas.openxmlformats.org/drawingml/2006/main">
            <a:srgbClr val="17A673"/>
          </a:solidFill>
          <a:ln xmlns:a="http://schemas.openxmlformats.org/drawingml/2006/main" w="9525">
            <a:solidFill>
              <a:srgbClr val="17A67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D7649F3-206D-43A8-A0F4-A54D9E2FE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14337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469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L3  LLM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13BE886-A542-4F9D-B0F9-AB8DA9519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143375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469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0">
                <a:solidFill>
                  <a:srgbClr val="1221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2213A"/>
                </a:solidFill>
                <a:latin typeface="Microsoft YaHei"/>
                <a:ea typeface="Microsoft YaHei"/>
                <a:cs typeface="Microsoft YaHei"/>
              </a:rPr>
              <a:t>LLMBridge · 6 Providers · 自动 Failover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6D26A22-676C-4795-9B1B-C04474D80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4124325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264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650" b="1">
                <a:solidFill>
                  <a:srgbClr val="17A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A673"/>
                </a:solidFill>
                <a:latin typeface="Microsoft YaHei"/>
                <a:ea typeface="Microsoft YaHei"/>
                <a:cs typeface="Microsoft YaHei"/>
              </a:rPr>
              <a:t>↓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78FF414-7461-4C61-9070-639F3A9DC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91050"/>
            <a:ext cx="9620250" cy="409575"/>
          </a:xfrm>
          <a:prstGeom xmlns:a="http://schemas.openxmlformats.org/drawingml/2006/main" prst="roundRect">
            <a:avLst>
              <a:gd name="adj" fmla="val 23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F6BF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0C65E07-8AE8-4D33-B822-8148887DA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91050"/>
            <a:ext cx="1714500" cy="409575"/>
          </a:xfrm>
          <a:prstGeom xmlns:a="http://schemas.openxmlformats.org/drawingml/2006/main" prst="roundRect">
            <a:avLst>
              <a:gd name="adj" fmla="val 23256"/>
            </a:avLst>
          </a:prstGeom>
          <a:solidFill xmlns:a="http://schemas.openxmlformats.org/drawingml/2006/main">
            <a:srgbClr val="2F6BFF"/>
          </a:solidFill>
          <a:ln xmlns:a="http://schemas.openxmlformats.org/drawingml/2006/main" w="9525">
            <a:solidFill>
              <a:srgbClr val="2F6BF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A264AE9-5569-41BE-9ECE-5AC0AEAC4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6958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469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L2  MCP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242C2EC-3790-4AE5-9118-C82F8263D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695825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469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0">
                <a:solidFill>
                  <a:srgbClr val="1221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2213A"/>
                </a:solidFill>
                <a:latin typeface="Microsoft YaHei"/>
                <a:ea typeface="Microsoft YaHei"/>
                <a:cs typeface="Microsoft YaHei"/>
              </a:rPr>
              <a:t>STM32 · QBS · Jira · Bitbucket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7E4ED64-2A6D-435F-AE03-F52402AEC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4676775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264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650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rPr>
              <a:t>↓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EAD8B1D-74E9-4788-83D5-EB67374F4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43500"/>
            <a:ext cx="9620250" cy="409575"/>
          </a:xfrm>
          <a:prstGeom xmlns:a="http://schemas.openxmlformats.org/drawingml/2006/main" prst="roundRect">
            <a:avLst>
              <a:gd name="adj" fmla="val 23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B1630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F1901F2-4CE1-430E-B083-F7FD61E57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43500"/>
            <a:ext cx="1714500" cy="409575"/>
          </a:xfrm>
          <a:prstGeom xmlns:a="http://schemas.openxmlformats.org/drawingml/2006/main" prst="roundRect">
            <a:avLst>
              <a:gd name="adj" fmla="val 23256"/>
            </a:avLst>
          </a:prstGeom>
          <a:solidFill xmlns:a="http://schemas.openxmlformats.org/drawingml/2006/main">
            <a:srgbClr val="0B1630"/>
          </a:solidFill>
          <a:ln xmlns:a="http://schemas.openxmlformats.org/drawingml/2006/main" w="9525">
            <a:solidFill>
              <a:srgbClr val="0B1630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79C0EC1-6300-4221-BD6A-3BFF1E4A6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24827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469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L1  Infra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E84071C-E5B1-4BD2-8B9D-2DE54B10A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248275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469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0">
                <a:solidFill>
                  <a:srgbClr val="1221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2213A"/>
                </a:solidFill>
                <a:latin typeface="Microsoft YaHei"/>
                <a:ea typeface="Microsoft YaHei"/>
                <a:cs typeface="Microsoft YaHei"/>
              </a:rPr>
              <a:t>SQLite · Redis / InMemory · 日志 · 指标 · 健康检查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C3931D2-AABA-426E-986F-EB22089C4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1828800"/>
            <a:ext cx="762000" cy="3714750"/>
          </a:xfrm>
          <a:prstGeom xmlns:a="http://schemas.openxmlformats.org/drawingml/2006/main" prst="roundRect">
            <a:avLst>
              <a:gd name="adj" fmla="val 22500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B9CEF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77DCE55-266C-4C7D-861D-97EC5EC52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2114550"/>
            <a:ext cx="4191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350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rPr>
              <a:t>安\n全\n边\n界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E994A48-DFB3-4049-9F3D-139B2A64A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3810000"/>
            <a:ext cx="4191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125" b="1">
                <a:solidFill>
                  <a:srgbClr val="0B16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B1630"/>
                </a:solidFill>
                <a:latin typeface="Microsoft YaHei"/>
                <a:ea typeface="Microsoft YaHei"/>
                <a:cs typeface="Microsoft YaHei"/>
              </a:rPr>
              <a:t>密\n钥\n只\n在\n后\n端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FC106ED-291C-4E73-BD24-1F808B114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F0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51979FB-A98B-48D8-B2EB-4D126A5AE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857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6675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6758F"/>
                </a:solidFill>
                <a:latin typeface="Microsoft YaHei"/>
                <a:ea typeface="Microsoft YaHei"/>
                <a:cs typeface="Microsoft YaHei"/>
              </a:rPr>
              <a:t>MACODE FW AI AGENT  ·  AI 竞赛方案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9296E52-6570-4330-8FD0-B981AE37A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72250"/>
            <a:ext cx="4381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825" b="1">
                <a:solidFill>
                  <a:srgbClr val="6675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6758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41130421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1B24596-F90C-4BF8-B04A-7978D7C62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5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rPr>
              <a:t>04 多智能体协作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1233D3-164C-46FA-9820-911AC456C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550" b="1">
                <a:solidFill>
                  <a:srgbClr val="0B16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630"/>
                </a:solidFill>
                <a:latin typeface="Microsoft YaHei"/>
                <a:ea typeface="Microsoft YaHei"/>
                <a:cs typeface="Microsoft YaHei"/>
              </a:rPr>
              <a:t>7 个专业 Agent，共用一个 BuildAgent 能力底座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02D4B1-1510-41AA-803B-C4D2D1F0A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0">
                <a:solidFill>
                  <a:srgbClr val="6675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58F"/>
                </a:solidFill>
                <a:latin typeface="Microsoft YaHei"/>
                <a:ea typeface="Microsoft YaHei"/>
                <a:cs typeface="Microsoft YaHei"/>
              </a:rPr>
              <a:t>把“会写代码”扩展为“能完成工程任务”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60073A-A6F4-4B67-8AA9-53F03F44D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800350"/>
            <a:ext cx="2762250" cy="876300"/>
          </a:xfrm>
          <a:prstGeom xmlns:a="http://schemas.openxmlformats.org/drawingml/2006/main" prst="roundRect">
            <a:avLst>
              <a:gd name="adj" fmla="val 21739"/>
            </a:avLst>
          </a:prstGeom>
          <a:solidFill xmlns:a="http://schemas.openxmlformats.org/drawingml/2006/main">
            <a:srgbClr val="0B1630"/>
          </a:solidFill>
          <a:ln xmlns:a="http://schemas.openxmlformats.org/drawingml/2006/main" w="9525">
            <a:solidFill>
              <a:srgbClr val="0B163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57B6EE-E243-43B4-AE47-EA5DCDB89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02895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6993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BuildAgent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7B497D-DF72-49CE-B0F1-CAD45216B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333750"/>
            <a:ext cx="219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975" b="0">
                <a:solidFill>
                  <a:srgbClr val="BFD0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BFD0F5"/>
                </a:solidFill>
                <a:latin typeface="Microsoft YaHei"/>
                <a:ea typeface="Microsoft YaHei"/>
                <a:cs typeface="Microsoft YaHei"/>
              </a:rPr>
              <a:t>Host GCC / ARM GCC · 统一编译入口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D4B68A-8B03-4C30-9A14-6C3FFB11F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00250"/>
            <a:ext cx="2190750" cy="685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5F8FC"/>
          </a:solidFill>
          <a:ln xmlns:a="http://schemas.openxmlformats.org/drawingml/2006/main" w="9525">
            <a:solidFill>
              <a:srgbClr val="2F6B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D1F6DB-3A02-4937-9D6D-E77342860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143125"/>
            <a:ext cx="1885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7974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1">
                <a:solidFill>
                  <a:srgbClr val="0B16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B1630"/>
                </a:solidFill>
                <a:latin typeface="Microsoft YaHei"/>
                <a:ea typeface="Microsoft YaHei"/>
                <a:cs typeface="Microsoft YaHei"/>
              </a:rPr>
              <a:t>UnitTest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04DBA1-5499-49B1-839F-FFF109284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390775"/>
            <a:ext cx="1885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0">
                <a:solidFill>
                  <a:srgbClr val="6675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6758F"/>
                </a:solidFill>
                <a:latin typeface="Microsoft YaHei"/>
                <a:ea typeface="Microsoft YaHei"/>
                <a:cs typeface="Microsoft YaHei"/>
              </a:rPr>
              <a:t>生成测试 + 覆盖率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7E9601-F51F-4C8B-A8A4-8BD026093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686050"/>
            <a:ext cx="3829050" cy="114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F6B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59273C-330E-4784-8055-F2038F59A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95750"/>
            <a:ext cx="2190750" cy="685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5F8FC"/>
          </a:solidFill>
          <a:ln xmlns:a="http://schemas.openxmlformats.org/drawingml/2006/main" w="9525">
            <a:solidFill>
              <a:srgbClr val="19B8D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36433F-9809-41A2-8D58-8C8F914C9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238625"/>
            <a:ext cx="1885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7974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1">
                <a:solidFill>
                  <a:srgbClr val="0B16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B1630"/>
                </a:solidFill>
                <a:latin typeface="Microsoft YaHei"/>
                <a:ea typeface="Microsoft YaHei"/>
                <a:cs typeface="Microsoft YaHei"/>
              </a:rPr>
              <a:t>Driver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3BC2CD-ED47-4D48-ABB9-422F200B2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486275"/>
            <a:ext cx="1885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0">
                <a:solidFill>
                  <a:srgbClr val="6675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6758F"/>
                </a:solidFill>
                <a:latin typeface="Microsoft YaHei"/>
                <a:ea typeface="Microsoft YaHei"/>
                <a:cs typeface="Microsoft YaHei"/>
              </a:rPr>
              <a:t>外设驱动 + 交叉编译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ADA72D-F7CB-44EE-8B26-5B0F01569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800350"/>
            <a:ext cx="3829050" cy="1295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9B8D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9BD2EF-441C-4447-BECF-81BF6F61C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000250"/>
            <a:ext cx="2190750" cy="685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5F8FC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2C8CC5-25EF-41EE-8182-22BC02C18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2143125"/>
            <a:ext cx="1885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7974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1">
                <a:solidFill>
                  <a:srgbClr val="0B16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B1630"/>
                </a:solidFill>
                <a:latin typeface="Microsoft YaHei"/>
                <a:ea typeface="Microsoft YaHei"/>
                <a:cs typeface="Microsoft YaHei"/>
              </a:rPr>
              <a:t>BugFix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79A0B0-4A5A-4227-A2CC-B4F50975E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2390775"/>
            <a:ext cx="1885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0">
                <a:solidFill>
                  <a:srgbClr val="6675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6758F"/>
                </a:solidFill>
                <a:latin typeface="Microsoft YaHei"/>
                <a:ea typeface="Microsoft YaHei"/>
                <a:cs typeface="Microsoft YaHei"/>
              </a:rPr>
              <a:t>问题定位 + 修复建议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408C3C0-1CA3-411D-8E15-82C0491BA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2686050"/>
            <a:ext cx="3552825" cy="114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59E0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2D9B4CC-0F13-4168-A7F5-E081623F1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095750"/>
            <a:ext cx="2190750" cy="685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5F8FC"/>
          </a:solidFill>
          <a:ln xmlns:a="http://schemas.openxmlformats.org/drawingml/2006/main" w="9525">
            <a:solidFill>
              <a:srgbClr val="7A5AF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49D678E-3B49-4C4B-B043-717FD83C2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4238625"/>
            <a:ext cx="1885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7974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1">
                <a:solidFill>
                  <a:srgbClr val="0B16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B1630"/>
                </a:solidFill>
                <a:latin typeface="Microsoft YaHei"/>
                <a:ea typeface="Microsoft YaHei"/>
                <a:cs typeface="Microsoft YaHei"/>
              </a:rPr>
              <a:t>Debug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C9D5ED3-D56B-4ECA-AB1B-62BCAA6DE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4486275"/>
            <a:ext cx="1885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0">
                <a:solidFill>
                  <a:srgbClr val="6675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6758F"/>
                </a:solidFill>
                <a:latin typeface="Microsoft YaHei"/>
                <a:ea typeface="Microsoft YaHei"/>
                <a:cs typeface="Microsoft YaHei"/>
              </a:rPr>
              <a:t>崩溃分析 + 日志解读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6E61966-FA84-4435-AA80-48CE2B2DA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2800350"/>
            <a:ext cx="3552825" cy="1295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A5AF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75FA50E-0AEC-4AE2-820C-FCE5780CF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762500"/>
            <a:ext cx="2190750" cy="685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5F8FC"/>
          </a:solidFill>
          <a:ln xmlns:a="http://schemas.openxmlformats.org/drawingml/2006/main" w="9525">
            <a:solidFill>
              <a:srgbClr val="17A67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A300714-3141-47DA-8256-408713899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905375"/>
            <a:ext cx="1885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7974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1">
                <a:solidFill>
                  <a:srgbClr val="0B16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B1630"/>
                </a:solidFill>
                <a:latin typeface="Microsoft YaHei"/>
                <a:ea typeface="Microsoft YaHei"/>
                <a:cs typeface="Microsoft YaHei"/>
              </a:rPr>
              <a:t>Review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F42E752-53A8-4E5F-BE7A-D1A61A935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5153025"/>
            <a:ext cx="1885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0">
                <a:solidFill>
                  <a:srgbClr val="6675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6758F"/>
                </a:solidFill>
                <a:latin typeface="Microsoft YaHei"/>
                <a:ea typeface="Microsoft YaHei"/>
                <a:cs typeface="Microsoft YaHei"/>
              </a:rPr>
              <a:t>PR Diff + MISRA 检查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28CC7ED-A06F-444B-B94F-D17CBDE06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2800350"/>
            <a:ext cx="1638300" cy="1962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7A67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7876598-3B7B-4628-ADBA-647572336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762500"/>
            <a:ext cx="2190750" cy="685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5F8FC"/>
          </a:solidFill>
          <a:ln xmlns:a="http://schemas.openxmlformats.org/drawingml/2006/main" w="9525">
            <a:solidFill>
              <a:srgbClr val="2F6BF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12F415E-6523-4FE3-B225-709DFDEC0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905375"/>
            <a:ext cx="1885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7974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1">
                <a:solidFill>
                  <a:srgbClr val="0B16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B1630"/>
                </a:solidFill>
                <a:latin typeface="Microsoft YaHei"/>
                <a:ea typeface="Microsoft YaHei"/>
                <a:cs typeface="Microsoft YaHei"/>
              </a:rPr>
              <a:t>Chat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D328589-C59C-441C-ABC0-98DF11F5A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5153025"/>
            <a:ext cx="1885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0">
                <a:solidFill>
                  <a:srgbClr val="6675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6758F"/>
                </a:solidFill>
                <a:latin typeface="Microsoft YaHei"/>
                <a:ea typeface="Microsoft YaHei"/>
                <a:cs typeface="Microsoft YaHei"/>
              </a:rPr>
              <a:t>多轮对话 + 意图路由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1E710B9-2871-460B-9BFB-18712C53A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2800350"/>
            <a:ext cx="1885950" cy="1962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F6BF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82D903C-37BB-4436-BF94-3B1DE170B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43050"/>
            <a:ext cx="10287000" cy="438150"/>
          </a:xfrm>
          <a:prstGeom xmlns:a="http://schemas.openxmlformats.org/drawingml/2006/main" prst="roundRect">
            <a:avLst>
              <a:gd name="adj" fmla="val 34783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EAF1F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EFBA9AE-4C08-47B6-89ED-F2189F546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666875"/>
            <a:ext cx="971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417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350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rPr>
              <a:t>创新点：编译能力集中治理，所有 Agent 共享同一套验证路径，减少重复实现与结果漂移。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5BD56A4-89E0-4913-A292-5F70CDD2C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F0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468F9C7-22C3-42F3-B29D-193ADE670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857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6675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6758F"/>
                </a:solidFill>
                <a:latin typeface="Microsoft YaHei"/>
                <a:ea typeface="Microsoft YaHei"/>
                <a:cs typeface="Microsoft YaHei"/>
              </a:rPr>
              <a:t>MACODE FW AI AGENT  ·  AI 竞赛方案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A8F2FA0-1A73-4DD9-A40D-7B1DFFE2E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72250"/>
            <a:ext cx="4381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825" b="1">
                <a:solidFill>
                  <a:srgbClr val="6675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6758F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42445877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FD0981E-90A9-46C9-A797-F71EC1FDC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5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rPr>
              <a:t>05 可验证闭环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478501-FD91-4969-8375-A503244DD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550" b="1">
                <a:solidFill>
                  <a:srgbClr val="0B16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630"/>
                </a:solidFill>
                <a:latin typeface="Microsoft YaHei"/>
                <a:ea typeface="Microsoft YaHei"/>
                <a:cs typeface="Microsoft YaHei"/>
              </a:rPr>
              <a:t>从源代码到可交付产物，每一步都有证据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EDB735-FDFA-486D-B88F-8B293CFFE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0">
                <a:solidFill>
                  <a:srgbClr val="6675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58F"/>
                </a:solidFill>
                <a:latin typeface="Microsoft YaHei"/>
                <a:ea typeface="Microsoft YaHei"/>
                <a:cs typeface="Microsoft YaHei"/>
              </a:rPr>
              <a:t>工作流节点可追踪，失败可重试，结果可下载、可回放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5F6578-9B5A-472F-87F6-906E40F70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47900"/>
            <a:ext cx="1752600" cy="1562100"/>
          </a:xfrm>
          <a:prstGeom xmlns:a="http://schemas.openxmlformats.org/drawingml/2006/main" prst="roundRect">
            <a:avLst>
              <a:gd name="adj" fmla="val 109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F6B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5A32AD-10BD-4830-B7A0-8C4766489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193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9525">
            <a:solidFill>
              <a:srgbClr val="2F6B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208A76-49CC-4877-BE6D-A31B93097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146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522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3DD61E-75AD-4059-A6D9-9E6A01764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71800"/>
            <a:ext cx="1409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771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1">
                <a:solidFill>
                  <a:srgbClr val="0B16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B1630"/>
                </a:solidFill>
                <a:latin typeface="Microsoft YaHei"/>
                <a:ea typeface="Microsoft YaHei"/>
                <a:cs typeface="Microsoft YaHei"/>
              </a:rPr>
              <a:t>解析上下文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835CFF-19B6-4C53-9195-7E5D0A04C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14700"/>
            <a:ext cx="1409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0">
                <a:solidFill>
                  <a:srgbClr val="6675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758F"/>
                </a:solidFill>
                <a:latin typeface="Microsoft YaHei"/>
                <a:ea typeface="Microsoft YaHei"/>
                <a:cs typeface="Microsoft YaHei"/>
              </a:rPr>
              <a:t>源码 / 日志 / 知识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767F68-7C95-4079-A7A4-1B83483D2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8765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6993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950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DE2683-102A-454E-A2EE-39BFB9C39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247900"/>
            <a:ext cx="1752600" cy="1562100"/>
          </a:xfrm>
          <a:prstGeom xmlns:a="http://schemas.openxmlformats.org/drawingml/2006/main" prst="roundRect">
            <a:avLst>
              <a:gd name="adj" fmla="val 109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A5AF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296F84-8F90-47C5-9240-C25A47EBA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4193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A5AF8"/>
          </a:solidFill>
          <a:ln xmlns:a="http://schemas.openxmlformats.org/drawingml/2006/main" w="9525">
            <a:solidFill>
              <a:srgbClr val="7A5AF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559942-9CFA-479E-A6AA-7BAE9A3A4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5146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522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A7CCFE-5459-42FA-AD14-6FD75DFE8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971800"/>
            <a:ext cx="1409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771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1">
                <a:solidFill>
                  <a:srgbClr val="0B16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B1630"/>
                </a:solidFill>
                <a:latin typeface="Microsoft YaHei"/>
                <a:ea typeface="Microsoft YaHei"/>
                <a:cs typeface="Microsoft YaHei"/>
              </a:rPr>
              <a:t>生成方案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22D266-0409-4885-9A91-43BA0A5F3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314700"/>
            <a:ext cx="1409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0">
                <a:solidFill>
                  <a:srgbClr val="6675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758F"/>
                </a:solidFill>
                <a:latin typeface="Microsoft YaHei"/>
                <a:ea typeface="Microsoft YaHei"/>
                <a:cs typeface="Microsoft YaHei"/>
              </a:rPr>
              <a:t>测试、驱动或修复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DE9510-D689-4338-AA15-9690791E5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8765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6993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950" b="1">
                <a:solidFill>
                  <a:srgbClr val="7A5A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7A5AF8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02A685-76BD-4C7E-98F6-C9311787F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247900"/>
            <a:ext cx="1752600" cy="1562100"/>
          </a:xfrm>
          <a:prstGeom xmlns:a="http://schemas.openxmlformats.org/drawingml/2006/main" prst="roundRect">
            <a:avLst>
              <a:gd name="adj" fmla="val 109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9B8D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26863F-8B85-4860-BFFF-9A83D5B4D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4193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B8D4"/>
          </a:solidFill>
          <a:ln xmlns:a="http://schemas.openxmlformats.org/drawingml/2006/main" w="9525">
            <a:solidFill>
              <a:srgbClr val="19B8D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BB2260B-0798-401D-A836-C6B87ACC9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5146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522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8EDB926-1ADD-4359-8206-2261566BA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971800"/>
            <a:ext cx="1409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771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1">
                <a:solidFill>
                  <a:srgbClr val="0B16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B1630"/>
                </a:solidFill>
                <a:latin typeface="Microsoft YaHei"/>
                <a:ea typeface="Microsoft YaHei"/>
                <a:cs typeface="Microsoft YaHei"/>
              </a:rPr>
              <a:t>工具执行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F069024-7005-49C6-BD14-FDFD42F38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314700"/>
            <a:ext cx="1409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0">
                <a:solidFill>
                  <a:srgbClr val="6675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758F"/>
                </a:solidFill>
                <a:latin typeface="Microsoft YaHei"/>
                <a:ea typeface="Microsoft YaHei"/>
                <a:cs typeface="Microsoft YaHei"/>
              </a:rPr>
              <a:t>编译、MCP、CLI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345BB0C-7E19-4793-AC95-3F358635C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8765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6993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950" b="1">
                <a:solidFill>
                  <a:srgbClr val="19B8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9B8D4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1C7EDC6-5C14-438B-8D3A-7AC1D0920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247900"/>
            <a:ext cx="1752600" cy="1562100"/>
          </a:xfrm>
          <a:prstGeom xmlns:a="http://schemas.openxmlformats.org/drawingml/2006/main" prst="roundRect">
            <a:avLst>
              <a:gd name="adj" fmla="val 109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7A67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3A60DF3-983F-44C3-A286-47119ABF1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4193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A673"/>
          </a:solidFill>
          <a:ln xmlns:a="http://schemas.openxmlformats.org/drawingml/2006/main" w="9525">
            <a:solidFill>
              <a:srgbClr val="17A67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30051A3-BB93-4821-9A83-A4596BBBC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5146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522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BD11134-14E5-4FF0-9078-DB33C8C9F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971800"/>
            <a:ext cx="1409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771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1">
                <a:solidFill>
                  <a:srgbClr val="0B16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B1630"/>
                </a:solidFill>
                <a:latin typeface="Microsoft YaHei"/>
                <a:ea typeface="Microsoft YaHei"/>
                <a:cs typeface="Microsoft YaHei"/>
              </a:rPr>
              <a:t>质量验证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2809ABD-9A6C-4D35-B576-E1536F69E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314700"/>
            <a:ext cx="1409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0">
                <a:solidFill>
                  <a:srgbClr val="6675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758F"/>
                </a:solidFill>
                <a:latin typeface="Microsoft YaHei"/>
                <a:ea typeface="Microsoft YaHei"/>
                <a:cs typeface="Microsoft YaHei"/>
              </a:rPr>
              <a:t>通过率、覆盖率、审查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00E61C1-ED2B-4B34-A752-4C727AC60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8765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6993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950" b="1">
                <a:solidFill>
                  <a:srgbClr val="17A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7A673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69B94DD-3D28-4DFE-86A4-DF0AE5EDC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247900"/>
            <a:ext cx="1752600" cy="1562100"/>
          </a:xfrm>
          <a:prstGeom xmlns:a="http://schemas.openxmlformats.org/drawingml/2006/main" prst="roundRect">
            <a:avLst>
              <a:gd name="adj" fmla="val 109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972745D-E777-43E1-A8DE-A2B7F34A1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4193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A238D9F-624E-4AB0-8922-DB0A6B78D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5146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522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3A0997E-9FF3-4587-B55C-67C22667E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971800"/>
            <a:ext cx="1409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771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1">
                <a:solidFill>
                  <a:srgbClr val="0B16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B1630"/>
                </a:solidFill>
                <a:latin typeface="Microsoft YaHei"/>
                <a:ea typeface="Microsoft YaHei"/>
                <a:cs typeface="Microsoft YaHei"/>
              </a:rPr>
              <a:t>产物沉淀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E6A5452-C5B6-4349-A007-FB61116E7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314700"/>
            <a:ext cx="1409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0">
                <a:solidFill>
                  <a:srgbClr val="6675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758F"/>
                </a:solidFill>
                <a:latin typeface="Microsoft YaHei"/>
                <a:ea typeface="Microsoft YaHei"/>
                <a:cs typeface="Microsoft YaHei"/>
              </a:rPr>
              <a:t>文件、报告、知识条目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F560050-7085-41CA-BE1F-4A3D84E12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05300"/>
            <a:ext cx="10325100" cy="1162050"/>
          </a:xfrm>
          <a:prstGeom xmlns:a="http://schemas.openxmlformats.org/drawingml/2006/main" prst="roundRect">
            <a:avLst>
              <a:gd name="adj" fmla="val 16393"/>
            </a:avLst>
          </a:prstGeom>
          <a:solidFill xmlns:a="http://schemas.openxmlformats.org/drawingml/2006/main">
            <a:srgbClr val="0B1630"/>
          </a:solidFill>
          <a:ln xmlns:a="http://schemas.openxmlformats.org/drawingml/2006/main" w="9525">
            <a:solidFill>
              <a:srgbClr val="0B1630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2870F45-EAAF-4E6D-8FB6-60E150264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572000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8FB3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8FB3FF"/>
                </a:solidFill>
                <a:latin typeface="Microsoft YaHei"/>
                <a:ea typeface="Microsoft YaHei"/>
                <a:cs typeface="Microsoft YaHei"/>
              </a:rPr>
              <a:t>可观测性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98112B1-E05B-4919-BC24-CE50A7454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89585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953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实时流式响应  ·  任务状态  ·  失败重试  ·  令牌与成本记录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BB817C6-0EC7-45B2-9FE3-803E290AC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219700"/>
            <a:ext cx="914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0">
                <a:solidFill>
                  <a:srgbClr val="BFD0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BFD0F5"/>
                </a:solidFill>
                <a:latin typeface="Microsoft YaHei"/>
                <a:ea typeface="Microsoft YaHei"/>
                <a:cs typeface="Microsoft YaHei"/>
              </a:rPr>
              <a:t>让评审看到“怎么做、做了什么、结果是否可信”。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788684A-8E37-4A2D-893B-39039E82F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F0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24A0E94-5E25-4C1E-A83F-ECED98B96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857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6675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6758F"/>
                </a:solidFill>
                <a:latin typeface="Microsoft YaHei"/>
                <a:ea typeface="Microsoft YaHei"/>
                <a:cs typeface="Microsoft YaHei"/>
              </a:rPr>
              <a:t>MACODE FW AI AGENT  ·  AI 竞赛方案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C712163-7B5A-466F-8881-975D2DA87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72250"/>
            <a:ext cx="4381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825" b="1">
                <a:solidFill>
                  <a:srgbClr val="6675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6758F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14226024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A4511D1-8C1A-41A8-83CF-9150ED444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5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rPr>
              <a:t>06 知识与工具生态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169906-22A1-47B2-93AE-0376FA406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550" b="1">
                <a:solidFill>
                  <a:srgbClr val="0B16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630"/>
                </a:solidFill>
                <a:latin typeface="Microsoft YaHei"/>
                <a:ea typeface="Microsoft YaHei"/>
                <a:cs typeface="Microsoft YaHei"/>
              </a:rPr>
              <a:t>Register-first 知识库，让检索结果可追溯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059291-9D8E-4C70-AA1A-DB52BE2C0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0">
                <a:solidFill>
                  <a:srgbClr val="6675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58F"/>
                </a:solidFill>
                <a:latin typeface="Microsoft YaHei"/>
                <a:ea typeface="Microsoft YaHei"/>
                <a:cs typeface="Microsoft YaHei"/>
              </a:rPr>
              <a:t>芯片寄存器、项目文档与团队经验进入同一条 Agent 上下文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2B6382-A10D-4471-8204-A48C24061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81200"/>
            <a:ext cx="4572000" cy="3467100"/>
          </a:xfrm>
          <a:prstGeom xmlns:a="http://schemas.openxmlformats.org/drawingml/2006/main" prst="roundRect">
            <a:avLst>
              <a:gd name="adj" fmla="val 6044"/>
            </a:avLst>
          </a:prstGeom>
          <a:solidFill xmlns:a="http://schemas.openxmlformats.org/drawingml/2006/main">
            <a:srgbClr val="0B1630"/>
          </a:solidFill>
          <a:ln xmlns:a="http://schemas.openxmlformats.org/drawingml/2006/main" w="9525">
            <a:solidFill>
              <a:srgbClr val="0B163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CF4B01-709E-488C-A4D1-147134DC0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669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090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知识进入工作流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E633E5-2173-464A-B285-5818A5234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781300"/>
            <a:ext cx="396240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142B56"/>
          </a:solidFill>
          <a:ln xmlns:a="http://schemas.openxmlformats.org/drawingml/2006/main" w="9525">
            <a:solidFill>
              <a:srgbClr val="2B4C8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DAA1A3-53B1-4B18-A84C-7A0820EAA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86702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9525">
            <a:solidFill>
              <a:srgbClr val="2F6B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B44979-ED21-4AFA-91D8-F7A10B2C3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847975"/>
            <a:ext cx="1123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090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D9E5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D9E5FF"/>
                </a:solidFill>
                <a:latin typeface="Microsoft YaHei"/>
                <a:ea typeface="Microsoft YaHei"/>
                <a:cs typeface="Microsoft YaHei"/>
              </a:rPr>
              <a:t>注册来源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8CEC07-E032-40CC-B187-605C60200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847975"/>
            <a:ext cx="2171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0">
                <a:solidFill>
                  <a:srgbClr val="BFD0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BFD0F5"/>
                </a:solidFill>
                <a:latin typeface="Microsoft YaHei"/>
                <a:ea typeface="Microsoft YaHei"/>
                <a:cs typeface="Microsoft YaHei"/>
              </a:rPr>
              <a:t>Git / MkDocs / Wiki.js / Obsidian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9120C8-6EB6-4170-878C-28F35DB4E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371850"/>
            <a:ext cx="396240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142B56"/>
          </a:solidFill>
          <a:ln xmlns:a="http://schemas.openxmlformats.org/drawingml/2006/main" w="9525">
            <a:solidFill>
              <a:srgbClr val="2B4C8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04EBD4-E3D4-42DB-B93C-EA0BA55FF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45757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B8D4"/>
          </a:solidFill>
          <a:ln xmlns:a="http://schemas.openxmlformats.org/drawingml/2006/main" w="9525">
            <a:solidFill>
              <a:srgbClr val="19B8D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C770AE-6E94-4E87-8D52-9FF32431A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438525"/>
            <a:ext cx="1123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090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D9E5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D9E5FF"/>
                </a:solidFill>
                <a:latin typeface="Microsoft YaHei"/>
                <a:ea typeface="Microsoft YaHei"/>
                <a:cs typeface="Microsoft YaHei"/>
              </a:rPr>
              <a:t>建立索引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5E472B-9653-449D-89AE-E79E3609E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438525"/>
            <a:ext cx="2171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0">
                <a:solidFill>
                  <a:srgbClr val="BFD0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BFD0F5"/>
                </a:solidFill>
                <a:latin typeface="Microsoft YaHei"/>
                <a:ea typeface="Microsoft YaHei"/>
                <a:cs typeface="Microsoft YaHei"/>
              </a:rPr>
              <a:t>文档、芯片、外设、版本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012C87-8A6A-4F72-A185-3B5E2D326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962400"/>
            <a:ext cx="396240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142B56"/>
          </a:solidFill>
          <a:ln xmlns:a="http://schemas.openxmlformats.org/drawingml/2006/main" w="9525">
            <a:solidFill>
              <a:srgbClr val="2B4C8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A836ED-0704-46ED-B113-94E8B2B33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04812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A5AF8"/>
          </a:solidFill>
          <a:ln xmlns:a="http://schemas.openxmlformats.org/drawingml/2006/main" w="9525">
            <a:solidFill>
              <a:srgbClr val="7A5AF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659F26-C3CB-4184-9FC2-50D28EA3B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029075"/>
            <a:ext cx="1123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090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D9E5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D9E5FF"/>
                </a:solidFill>
                <a:latin typeface="Microsoft YaHei"/>
                <a:ea typeface="Microsoft YaHei"/>
                <a:cs typeface="Microsoft YaHei"/>
              </a:rPr>
              <a:t>按需检索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CB9C4B3-99EA-457F-8968-EB8FC833F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4029075"/>
            <a:ext cx="2171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0">
                <a:solidFill>
                  <a:srgbClr val="BFD0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BFD0F5"/>
                </a:solidFill>
                <a:latin typeface="Microsoft YaHei"/>
                <a:ea typeface="Microsoft YaHei"/>
                <a:cs typeface="Microsoft YaHei"/>
              </a:rPr>
              <a:t>字段、地址、芯片、版本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7F4EEAF-5D8D-4DCA-A6E4-5C98308F8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552950"/>
            <a:ext cx="396240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142B56"/>
          </a:solidFill>
          <a:ln xmlns:a="http://schemas.openxmlformats.org/drawingml/2006/main" w="9525">
            <a:solidFill>
              <a:srgbClr val="2B4C8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21A9FE1-1DA9-4AF5-869A-12D08DFE1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63867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709B34A-EE0A-4BBA-A01D-A5EBC1BF7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619625"/>
            <a:ext cx="1123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090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D9E5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D9E5FF"/>
                </a:solidFill>
                <a:latin typeface="Microsoft YaHei"/>
                <a:ea typeface="Microsoft YaHei"/>
                <a:cs typeface="Microsoft YaHei"/>
              </a:rPr>
              <a:t>回写沉淀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252397-87FC-4BBC-8398-3D82F4A17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4619625"/>
            <a:ext cx="2171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0">
                <a:solidFill>
                  <a:srgbClr val="BFD0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BFD0F5"/>
                </a:solidFill>
                <a:latin typeface="Microsoft YaHei"/>
                <a:ea typeface="Microsoft YaHei"/>
                <a:cs typeface="Microsoft YaHei"/>
              </a:rPr>
              <a:t>输出结果可成为新知识</a:t>
            </a:r>
          </a:p>
        </p:txBody>
      </p:sp>
      <p:pic>
        <p:nvPicPr>
          <p:cNvPr id="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1d2cafe2984970"/>
          <a:srcRect xmlns:a="http://schemas.openxmlformats.org/drawingml/2006/main" l="9212" t="0" r="921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810250" y="1981200"/>
            <a:ext cx="5638800" cy="3467100"/>
          </a:xfrm>
          <a:prstGeom xmlns:a="http://schemas.openxmlformats.org/drawingml/2006/main" prst="roundRect">
            <a:avLst>
              <a:gd name="adj" fmla="val 4945"/>
            </a:avLst>
          </a:prstGeom>
        </p:spPr>
      </p:pic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57FEE92-9A02-4231-ABEA-3BCB3EDC3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F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DD52B69-7CA8-4F47-9C8C-98ACFB9A7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857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6675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6758F"/>
                </a:solidFill>
                <a:latin typeface="Microsoft YaHei"/>
                <a:ea typeface="Microsoft YaHei"/>
                <a:cs typeface="Microsoft YaHei"/>
              </a:rPr>
              <a:t>MACODE FW AI AGENT  ·  AI 竞赛方案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EA0C05E-FD69-433D-A908-438E7FD71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72250"/>
            <a:ext cx="4381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825" b="1">
                <a:solidFill>
                  <a:srgbClr val="6675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6758F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95572013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89A795-C724-413B-9332-CE000D025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5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rPr>
              <a:t>07 产品体验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611009-C98F-43A7-95AF-7EE10698A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550" b="1">
                <a:solidFill>
                  <a:srgbClr val="0B16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630"/>
                </a:solidFill>
                <a:latin typeface="Microsoft YaHei"/>
                <a:ea typeface="Microsoft YaHei"/>
                <a:cs typeface="Microsoft YaHei"/>
              </a:rPr>
              <a:t>把复杂能力做成可操作的工作台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6FEE91-C10D-4737-8AB7-A8F94B76D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0">
                <a:solidFill>
                  <a:srgbClr val="6675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58F"/>
                </a:solidFill>
                <a:latin typeface="Microsoft YaHei"/>
                <a:ea typeface="Microsoft YaHei"/>
                <a:cs typeface="Microsoft YaHei"/>
              </a:rPr>
              <a:t>同一套平台覆盖测试生成、图像生成与 Agent 生成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a9a9610dc64556"/>
          <a:srcRect xmlns:a="http://schemas.openxmlformats.org/drawingml/2006/main" l="7600" t="0" r="760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" y="2019300"/>
            <a:ext cx="5143500" cy="3200400"/>
          </a:xfrm>
          <a:prstGeom xmlns:a="http://schemas.openxmlformats.org/drawingml/2006/main" prst="roundRect">
            <a:avLst>
              <a:gd name="adj" fmla="val 5357"/>
            </a:avLst>
          </a:prstGeom>
        </p:spPr>
      </p:pic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26be99612b45d6"/>
          <a:srcRect xmlns:a="http://schemas.openxmlformats.org/drawingml/2006/main" l="9821" t="0" r="982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81750" y="2019300"/>
            <a:ext cx="5143500" cy="3200400"/>
          </a:xfrm>
          <a:prstGeom xmlns:a="http://schemas.openxmlformats.org/drawingml/2006/main" prst="roundRect">
            <a:avLst>
              <a:gd name="adj" fmla="val 5357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406887-62AD-491F-AF98-737F6F46F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10200"/>
            <a:ext cx="16192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EAF1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30C789-F4E2-45DE-978B-F17B65C2D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67350"/>
            <a:ext cx="1619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9324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975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rPr>
              <a:t>Image Generation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47227B-93AE-4ADB-80D9-8CB64F0E7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467350"/>
            <a:ext cx="304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0">
                <a:solidFill>
                  <a:srgbClr val="6675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58F"/>
                </a:solidFill>
                <a:latin typeface="Microsoft YaHei"/>
                <a:ea typeface="Microsoft YaHei"/>
                <a:cs typeface="Microsoft YaHei"/>
              </a:rPr>
              <a:t>生成系统方案图与参考图编辑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9D3DB8-F37E-4243-9647-1AD19BE2A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410200"/>
            <a:ext cx="16192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EAF1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5D6E23-E049-44E2-8A23-D376C4FAE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467350"/>
            <a:ext cx="1619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9324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975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rPr>
              <a:t>Agent Generator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0B23E8-103E-4625-B7A7-D72A53B13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5467350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0">
                <a:solidFill>
                  <a:srgbClr val="6675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58F"/>
                </a:solidFill>
                <a:latin typeface="Microsoft YaHei"/>
                <a:ea typeface="Microsoft YaHei"/>
                <a:cs typeface="Microsoft YaHei"/>
              </a:rPr>
              <a:t>把流程封装为可复用 Agent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D4049B-FCA8-4F4D-91D6-8FC5A3EFA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F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FC2B68-8A6F-4AE1-B57F-2D3AF0F5E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857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6675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6758F"/>
                </a:solidFill>
                <a:latin typeface="Microsoft YaHei"/>
                <a:ea typeface="Microsoft YaHei"/>
                <a:cs typeface="Microsoft YaHei"/>
              </a:rPr>
              <a:t>MACODE FW AI AGENT  ·  AI 竞赛方案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9216BB-F554-453B-80C3-736D53DBA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72250"/>
            <a:ext cx="4381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825" b="1">
                <a:solidFill>
                  <a:srgbClr val="6675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6758F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892594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0120BFC-E7BA-4042-BF17-854CA9396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5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rPr>
              <a:t>08 阶段性证据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63ED3A-54A2-4342-8B6D-F2D5BED3D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550" b="1">
                <a:solidFill>
                  <a:srgbClr val="0B16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630"/>
                </a:solidFill>
                <a:latin typeface="Microsoft YaHei"/>
                <a:ea typeface="Microsoft YaHei"/>
                <a:cs typeface="Microsoft YaHei"/>
              </a:rPr>
              <a:t>项目已具备参赛级的工程底座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E15E6D-A3DC-43B3-BE94-3F84CD76A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0">
                <a:solidFill>
                  <a:srgbClr val="6675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58F"/>
                </a:solidFill>
                <a:latin typeface="Microsoft YaHei"/>
                <a:ea typeface="Microsoft YaHei"/>
                <a:cs typeface="Microsoft YaHei"/>
              </a:rPr>
              <a:t>以下指标来自项目分析报告与阶段性实现报告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E2ACC1-1810-4138-9AE1-85527FD5C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81200"/>
            <a:ext cx="5143500" cy="12573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5F8FC"/>
          </a:solidFill>
          <a:ln xmlns:a="http://schemas.openxmlformats.org/drawingml/2006/main" w="9525">
            <a:solidFill>
              <a:srgbClr val="D9E2F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F22EAB-94A8-4198-84A1-6702AE33A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52650"/>
            <a:ext cx="133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35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550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rPr>
              <a:t>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B4052A-AF13-4A78-B259-3F130BCF4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1907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090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0B16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630"/>
                </a:solidFill>
                <a:latin typeface="Microsoft YaHei"/>
                <a:ea typeface="Microsoft YaHei"/>
                <a:cs typeface="Microsoft YaHei"/>
              </a:rPr>
              <a:t>专业 AI Agent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96CB70-DE5A-4BE3-B01C-0D25694B7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514600"/>
            <a:ext cx="3028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0">
                <a:solidFill>
                  <a:srgbClr val="6675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758F"/>
                </a:solidFill>
                <a:latin typeface="Microsoft YaHei"/>
                <a:ea typeface="Microsoft YaHei"/>
                <a:cs typeface="Microsoft YaHei"/>
              </a:rPr>
              <a:t>覆盖测试、驱动、构建、修复、调试、审查与对话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474780-085C-4436-A125-CE63C321A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81200"/>
            <a:ext cx="5143500" cy="12573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5F8FC"/>
          </a:solidFill>
          <a:ln xmlns:a="http://schemas.openxmlformats.org/drawingml/2006/main" w="9525">
            <a:solidFill>
              <a:srgbClr val="D9E2F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5FE936-B90A-4E53-A6F9-DBCAF3A28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52650"/>
            <a:ext cx="133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35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550" b="1">
                <a:solidFill>
                  <a:srgbClr val="7A5A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7A5AF8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2A6531-EA0F-4133-93C1-1256DD548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1907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090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0B16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630"/>
                </a:solidFill>
                <a:latin typeface="Microsoft YaHei"/>
                <a:ea typeface="Microsoft YaHei"/>
                <a:cs typeface="Microsoft YaHei"/>
              </a:rPr>
              <a:t>LLM Provider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6D0DBE-1C92-4AF9-A6B8-F4B421F0D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514600"/>
            <a:ext cx="3028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0">
                <a:solidFill>
                  <a:srgbClr val="6675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758F"/>
                </a:solidFill>
                <a:latin typeface="Microsoft YaHei"/>
                <a:ea typeface="Microsoft YaHei"/>
                <a:cs typeface="Microsoft YaHei"/>
              </a:rPr>
              <a:t>统一抽象 + 优先级选择 + 自动 Failover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00914D-B758-411B-8D9A-D2A7501C9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43300"/>
            <a:ext cx="5143500" cy="12573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5F8FC"/>
          </a:solidFill>
          <a:ln xmlns:a="http://schemas.openxmlformats.org/drawingml/2006/main" w="9525">
            <a:solidFill>
              <a:srgbClr val="D9E2F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EBF029-91A5-4571-A155-FA85CEE68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14750"/>
            <a:ext cx="133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35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550" b="1">
                <a:solidFill>
                  <a:srgbClr val="17A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A673"/>
                </a:solidFill>
                <a:latin typeface="Microsoft YaHei"/>
                <a:ea typeface="Microsoft YaHei"/>
                <a:cs typeface="Microsoft YaHei"/>
              </a:rPr>
              <a:t>69.6%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73A370-3CB3-4B62-A32F-A2CA22BE4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7528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090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0B16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630"/>
                </a:solidFill>
                <a:latin typeface="Microsoft YaHei"/>
                <a:ea typeface="Microsoft YaHei"/>
                <a:cs typeface="Microsoft YaHei"/>
              </a:rPr>
              <a:t>端点代码减少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D0CCBD-DA04-40B1-AD02-7B95622C5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076700"/>
            <a:ext cx="3028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0">
                <a:solidFill>
                  <a:srgbClr val="6675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758F"/>
                </a:solidFill>
                <a:latin typeface="Microsoft YaHei"/>
                <a:ea typeface="Microsoft YaHei"/>
                <a:cs typeface="Microsoft YaHei"/>
              </a:rPr>
              <a:t>UnitTest 重构后，单体端点从 1,830 行降至 557 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38725F-EA97-4E8B-B967-373C83D15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543300"/>
            <a:ext cx="5143500" cy="12573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5F8FC"/>
          </a:solidFill>
          <a:ln xmlns:a="http://schemas.openxmlformats.org/drawingml/2006/main" w="9525">
            <a:solidFill>
              <a:srgbClr val="D9E2F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AB3960A-0B10-4348-A885-4791E83D2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714750"/>
            <a:ext cx="133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35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55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743639F-A09E-4869-8FCD-FDBB76230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7528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090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0B16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630"/>
                </a:solidFill>
                <a:latin typeface="Microsoft YaHei"/>
                <a:ea typeface="Microsoft YaHei"/>
                <a:cs typeface="Microsoft YaHei"/>
              </a:rPr>
              <a:t>层间违规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27E5912-B012-427F-9F84-820D1726D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076700"/>
            <a:ext cx="3028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0">
                <a:solidFill>
                  <a:srgbClr val="6675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758F"/>
                </a:solidFill>
                <a:latin typeface="Microsoft YaHei"/>
                <a:ea typeface="Microsoft YaHei"/>
                <a:cs typeface="Microsoft YaHei"/>
              </a:rPr>
              <a:t>7 层架构约束下的审查结果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CCA9B44-07AA-4418-BE70-B4C6CED64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57800"/>
            <a:ext cx="10572750" cy="590550"/>
          </a:xfrm>
          <a:prstGeom xmlns:a="http://schemas.openxmlformats.org/drawingml/2006/main" prst="roundRect">
            <a:avLst>
              <a:gd name="adj" fmla="val 25806"/>
            </a:avLst>
          </a:prstGeom>
          <a:solidFill xmlns:a="http://schemas.openxmlformats.org/drawingml/2006/main">
            <a:srgbClr val="0B1630"/>
          </a:solidFill>
          <a:ln xmlns:a="http://schemas.openxmlformats.org/drawingml/2006/main" w="9525">
            <a:solidFill>
              <a:srgbClr val="0B163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831B4CE-105B-40AF-9358-B38C58FC9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448300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259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验证视角：架构清晰、密钥后端管理、产物可下载、任务状态可追踪。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BFBED9D-F42F-4FE6-A67D-63C349F3A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F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B891A47-D352-41B0-8BFB-F6B763B2D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857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6675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6758F"/>
                </a:solidFill>
                <a:latin typeface="Microsoft YaHei"/>
                <a:ea typeface="Microsoft YaHei"/>
                <a:cs typeface="Microsoft YaHei"/>
              </a:rPr>
              <a:t>MACODE FW AI AGENT  ·  AI 竞赛方案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1A54C71-C1F4-453F-A015-DBED83DFF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72250"/>
            <a:ext cx="4381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825" b="1">
                <a:solidFill>
                  <a:srgbClr val="6675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6758F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3935909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C20BDF0-32BC-4F6F-BEE1-80E244D20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5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rPr>
              <a:t>09 产业投入产出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BFC901-6F0E-44AB-9B29-6C849A76B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550" b="1">
                <a:solidFill>
                  <a:srgbClr val="0B16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630"/>
                </a:solidFill>
                <a:latin typeface="Microsoft YaHei"/>
                <a:ea typeface="Microsoft YaHei"/>
                <a:cs typeface="Microsoft YaHei"/>
              </a:rPr>
              <a:t>嵌入式研发的投入，转化为可复用的交付资产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86ACB2-1E14-402B-AAFA-24E49DA3A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0">
                <a:solidFill>
                  <a:srgbClr val="6675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58F"/>
                </a:solidFill>
                <a:latin typeface="Microsoft YaHei"/>
                <a:ea typeface="Microsoft YaHei"/>
                <a:cs typeface="Microsoft YaHei"/>
              </a:rPr>
              <a:t>围绕产品 FW 全生命周期，把一次性交付变成持续复利的工程能力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822560-DB77-4361-812B-294A70964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43100"/>
            <a:ext cx="4762500" cy="3638550"/>
          </a:xfrm>
          <a:prstGeom xmlns:a="http://schemas.openxmlformats.org/drawingml/2006/main" prst="roundRect">
            <a:avLst>
              <a:gd name="adj" fmla="val 6283"/>
            </a:avLst>
          </a:prstGeom>
          <a:solidFill xmlns:a="http://schemas.openxmlformats.org/drawingml/2006/main">
            <a:srgbClr val="0B1630"/>
          </a:solidFill>
          <a:ln xmlns:a="http://schemas.openxmlformats.org/drawingml/2006/main" w="9525">
            <a:solidFill>
              <a:srgbClr val="0B163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7A9C12-F5D0-4D07-B0B2-B9965914B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0980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投入端  ·  研发要素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FC6C74-DBB0-4FCA-B73E-64DD35BE6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724150"/>
            <a:ext cx="396240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142B56"/>
          </a:solidFill>
          <a:ln xmlns:a="http://schemas.openxmlformats.org/drawingml/2006/main" w="9525">
            <a:solidFill>
              <a:srgbClr val="2B4C8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466952-19B3-4DB9-B11F-A5CA1D3DC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80987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9525">
            <a:solidFill>
              <a:srgbClr val="2F6B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3F06B3-44D0-449D-8238-123C2DD95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781300"/>
            <a:ext cx="1219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D9E5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D9E5FF"/>
                </a:solidFill>
                <a:latin typeface="Microsoft YaHei"/>
                <a:ea typeface="Microsoft YaHei"/>
                <a:cs typeface="Microsoft YaHei"/>
              </a:rPr>
              <a:t>研发人力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D47E8A-CA06-4AE5-901C-398B3A8CF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781300"/>
            <a:ext cx="2076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0">
                <a:solidFill>
                  <a:srgbClr val="BFD0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BFD0F5"/>
                </a:solidFill>
                <a:latin typeface="Microsoft YaHei"/>
                <a:ea typeface="Microsoft YaHei"/>
                <a:cs typeface="Microsoft YaHei"/>
              </a:rPr>
              <a:t>经验被 Agent 固化为流程与检查点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2376E8-617C-4208-9684-9B74A1586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333750"/>
            <a:ext cx="396240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142B56"/>
          </a:solidFill>
          <a:ln xmlns:a="http://schemas.openxmlformats.org/drawingml/2006/main" w="9525">
            <a:solidFill>
              <a:srgbClr val="2B4C8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72EC64-6B20-4F59-8A9F-CF9F88358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41947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B8D4"/>
          </a:solidFill>
          <a:ln xmlns:a="http://schemas.openxmlformats.org/drawingml/2006/main" w="9525">
            <a:solidFill>
              <a:srgbClr val="19B8D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282757-5838-4C1F-92B7-74B8E74D2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390900"/>
            <a:ext cx="1219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D9E5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D9E5FF"/>
                </a:solidFill>
                <a:latin typeface="Microsoft YaHei"/>
                <a:ea typeface="Microsoft YaHei"/>
                <a:cs typeface="Microsoft YaHei"/>
              </a:rPr>
              <a:t>芯片与规范知识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6F94BA-8C41-45C1-B8D8-E6E11CEBA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390900"/>
            <a:ext cx="2076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0">
                <a:solidFill>
                  <a:srgbClr val="BFD0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BFD0F5"/>
                </a:solidFill>
                <a:latin typeface="Microsoft YaHei"/>
                <a:ea typeface="Microsoft YaHei"/>
                <a:cs typeface="Microsoft YaHei"/>
              </a:rPr>
              <a:t>寄存器、位域、版本与来源可检索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80AA83-A984-4F16-A2FF-68398B9A9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943350"/>
            <a:ext cx="396240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142B56"/>
          </a:solidFill>
          <a:ln xmlns:a="http://schemas.openxmlformats.org/drawingml/2006/main" w="9525">
            <a:solidFill>
              <a:srgbClr val="2B4C8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2F6974-3917-4EC7-B7F2-10375EA07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02907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A5AF8"/>
          </a:solidFill>
          <a:ln xmlns:a="http://schemas.openxmlformats.org/drawingml/2006/main" w="9525">
            <a:solidFill>
              <a:srgbClr val="7A5AF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CF1F52-FF2C-4E49-B1AF-FEC69C1B7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000500"/>
            <a:ext cx="1219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D9E5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D9E5FF"/>
                </a:solidFill>
                <a:latin typeface="Microsoft YaHei"/>
                <a:ea typeface="Microsoft YaHei"/>
                <a:cs typeface="Microsoft YaHei"/>
              </a:rPr>
              <a:t>工具链与模型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6F45079-E96C-4D5E-9FEA-8612B1FA1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000500"/>
            <a:ext cx="2076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735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0">
                <a:solidFill>
                  <a:srgbClr val="BFD0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BFD0F5"/>
                </a:solidFill>
                <a:latin typeface="Microsoft YaHei"/>
                <a:ea typeface="Microsoft YaHei"/>
                <a:cs typeface="Microsoft YaHei"/>
              </a:rPr>
              <a:t>LLM Provider + MCP + 编译测试能力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C340985-58CA-4AD6-A52C-8855AF5F2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552950"/>
            <a:ext cx="396240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142B56"/>
          </a:solidFill>
          <a:ln xmlns:a="http://schemas.openxmlformats.org/drawingml/2006/main" w="9525">
            <a:solidFill>
              <a:srgbClr val="2B4C8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B671462-4098-4D03-863C-9580B5C28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63867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E01FA37-DE1D-42C4-A624-F659EC08C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610100"/>
            <a:ext cx="1219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D9E5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D9E5FF"/>
                </a:solidFill>
                <a:latin typeface="Microsoft YaHei"/>
                <a:ea typeface="Microsoft YaHei"/>
                <a:cs typeface="Microsoft YaHei"/>
              </a:rPr>
              <a:t>真实项目数据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229F348-F4D0-4A2A-A18F-A122ABB31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610100"/>
            <a:ext cx="2076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805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0">
                <a:solidFill>
                  <a:srgbClr val="BFD0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BFD0F5"/>
                </a:solidFill>
                <a:latin typeface="Microsoft YaHei"/>
                <a:ea typeface="Microsoft YaHei"/>
                <a:cs typeface="Microsoft YaHei"/>
              </a:rPr>
              <a:t>代码、日志、缺陷与验证结果持续回流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7D252AB-18FC-4C0D-B4A0-60AD5B025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943100"/>
            <a:ext cx="4762500" cy="3638550"/>
          </a:xfrm>
          <a:prstGeom xmlns:a="http://schemas.openxmlformats.org/drawingml/2006/main" prst="roundRect">
            <a:avLst>
              <a:gd name="adj" fmla="val 628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3C2A0C3-4561-4B19-ACB5-18016A456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20980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0B16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630"/>
                </a:solidFill>
                <a:latin typeface="Microsoft YaHei"/>
                <a:ea typeface="Microsoft YaHei"/>
                <a:cs typeface="Microsoft YaHei"/>
              </a:rPr>
              <a:t>产出端  ·  产品价值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04EBA64-A0BE-4367-9922-1001F1791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647950"/>
            <a:ext cx="41529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5F8FC"/>
          </a:solidFill>
          <a:ln xmlns:a="http://schemas.openxmlformats.org/drawingml/2006/main" w="9525">
            <a:solidFill>
              <a:srgbClr val="D9E2F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02FB8E0-F268-4F1A-B92D-AE7E49278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7717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A673"/>
          </a:solidFill>
          <a:ln xmlns:a="http://schemas.openxmlformats.org/drawingml/2006/main" w="9525">
            <a:solidFill>
              <a:srgbClr val="17A67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F6961AC-D810-4C89-B3BE-D0C949DDC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7146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469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1">
                <a:solidFill>
                  <a:srgbClr val="0B16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B1630"/>
                </a:solidFill>
                <a:latin typeface="Microsoft YaHei"/>
                <a:ea typeface="Microsoft YaHei"/>
                <a:cs typeface="Microsoft YaHei"/>
              </a:rPr>
              <a:t>交付效率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9C4427C-CDE9-413A-9DAE-C8F6BC505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714625"/>
            <a:ext cx="1885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0">
                <a:solidFill>
                  <a:srgbClr val="6675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58F"/>
                </a:solidFill>
                <a:latin typeface="Microsoft YaHei"/>
                <a:ea typeface="Microsoft YaHei"/>
                <a:cs typeface="Microsoft YaHei"/>
              </a:rPr>
              <a:t>需求到测试产物的路径更短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9AE837F-D669-4F51-86E4-0775B1648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933700"/>
            <a:ext cx="3390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17A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17A673"/>
                </a:solidFill>
                <a:latin typeface="Microsoft YaHei"/>
                <a:ea typeface="Microsoft YaHei"/>
                <a:cs typeface="Microsoft YaHei"/>
              </a:rPr>
              <a:t>已有：UnitTest 单体端点代码减少 69.6%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7CC6BF5-8A4A-4534-A387-33BDD95F0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333750"/>
            <a:ext cx="41529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5F8FC"/>
          </a:solidFill>
          <a:ln xmlns:a="http://schemas.openxmlformats.org/drawingml/2006/main" w="9525">
            <a:solidFill>
              <a:srgbClr val="D9E2F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0CCCAAF-947C-4611-9A9D-B20420381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4575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9525">
            <a:solidFill>
              <a:srgbClr val="2F6BF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3EDFE10-EE51-474A-ACFA-B639230F6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4004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469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1">
                <a:solidFill>
                  <a:srgbClr val="0B16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B1630"/>
                </a:solidFill>
                <a:latin typeface="Microsoft YaHei"/>
                <a:ea typeface="Microsoft YaHei"/>
                <a:cs typeface="Microsoft YaHei"/>
              </a:rPr>
              <a:t>质量与可追溯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82817DE-00DF-4286-B763-8659BE7F1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400425"/>
            <a:ext cx="1885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0">
                <a:solidFill>
                  <a:srgbClr val="6675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58F"/>
                </a:solidFill>
                <a:latin typeface="Microsoft YaHei"/>
                <a:ea typeface="Microsoft YaHei"/>
                <a:cs typeface="Microsoft YaHei"/>
              </a:rPr>
              <a:t>编译、覆盖率、审查结果可回放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C356800-4348-43B0-B19C-026B5318B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619500"/>
            <a:ext cx="3390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rPr>
              <a:t>已有：长文件测试目标 ≥ 90%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D482B8A-CF74-45F4-9491-08A3AC8EB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019550"/>
            <a:ext cx="41529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5F8FC"/>
          </a:solidFill>
          <a:ln xmlns:a="http://schemas.openxmlformats.org/drawingml/2006/main" w="9525">
            <a:solidFill>
              <a:srgbClr val="D9E2F0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541E7CD-E63D-4C84-9A41-106708DE8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1433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A5AF8"/>
          </a:solidFill>
          <a:ln xmlns:a="http://schemas.openxmlformats.org/drawingml/2006/main" w="9525">
            <a:solidFill>
              <a:srgbClr val="7A5AF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E194394-41DC-41E5-B1E2-C6AA46A6E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0862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469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1">
                <a:solidFill>
                  <a:srgbClr val="0B16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B1630"/>
                </a:solidFill>
                <a:latin typeface="Microsoft YaHei"/>
                <a:ea typeface="Microsoft YaHei"/>
                <a:cs typeface="Microsoft YaHei"/>
              </a:rPr>
              <a:t>知识资产复用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5F3B273-0A7B-4A55-A6D2-2B15DFC77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086225"/>
            <a:ext cx="1885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0">
                <a:solidFill>
                  <a:srgbClr val="6675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58F"/>
                </a:solidFill>
                <a:latin typeface="Microsoft YaHei"/>
                <a:ea typeface="Microsoft YaHei"/>
                <a:cs typeface="Microsoft YaHei"/>
              </a:rPr>
              <a:t>方案沉淀为可检索、可绑定 Agent 的资产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8610633-2AD6-4EAC-96A1-682644FF9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305300"/>
            <a:ext cx="3390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7A5A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7A5AF8"/>
                </a:solidFill>
                <a:latin typeface="Microsoft YaHei"/>
                <a:ea typeface="Microsoft YaHei"/>
                <a:cs typeface="Microsoft YaHei"/>
              </a:rPr>
              <a:t>已有：7 个 Agent 共用统一能力底座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E09E9E0-00A6-47FE-B41A-B4F8B48C1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705350"/>
            <a:ext cx="41529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5F8FC"/>
          </a:solidFill>
          <a:ln xmlns:a="http://schemas.openxmlformats.org/drawingml/2006/main" w="9525">
            <a:solidFill>
              <a:srgbClr val="D9E2F0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841B2F3-0123-43DA-822D-677848C1C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8291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6EE7880-B2B9-4004-B29A-3A04D7387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7720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469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1">
                <a:solidFill>
                  <a:srgbClr val="0B16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B1630"/>
                </a:solidFill>
                <a:latin typeface="Microsoft YaHei"/>
                <a:ea typeface="Microsoft YaHei"/>
                <a:cs typeface="Microsoft YaHei"/>
              </a:rPr>
              <a:t>规模化复制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7F2E75C-42A5-4442-90CF-009F49073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772025"/>
            <a:ext cx="1885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0">
                <a:solidFill>
                  <a:srgbClr val="6675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58F"/>
                </a:solidFill>
                <a:latin typeface="Microsoft YaHei"/>
                <a:ea typeface="Microsoft YaHei"/>
                <a:cs typeface="Microsoft YaHei"/>
              </a:rPr>
              <a:t>跨芯片、跨项目复用 Agent 模板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FA8B181-9821-465B-BAE8-5254ED81C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991100"/>
            <a:ext cx="3390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目标：建立企业级指标基线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B456AFC-88F1-49AE-9FC8-E80BDF349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245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350" b="1">
                <a:solidFill>
                  <a:srgbClr val="0B16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630"/>
                </a:solidFill>
                <a:latin typeface="Microsoft YaHei"/>
                <a:ea typeface="Microsoft YaHei"/>
                <a:cs typeface="Microsoft YaHei"/>
              </a:rPr>
              <a:t>经营视角：把“人力投入”转化为“可重复的研发产能”，缩短新产品导入与问题闭环时间。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95E9173-D75A-4A51-9156-D86D52CBA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F0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90CFB70-C163-4E99-BB2C-00663C4AF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857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6675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6758F"/>
                </a:solidFill>
                <a:latin typeface="Microsoft YaHei"/>
                <a:ea typeface="Microsoft YaHei"/>
                <a:cs typeface="Microsoft YaHei"/>
              </a:rPr>
              <a:t>MACODE FW AI AGENT  ·  AI 竞赛方案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99FD5CC-7F51-4B68-902A-38D95877E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72250"/>
            <a:ext cx="4381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825" b="1">
                <a:solidFill>
                  <a:srgbClr val="6675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6758F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32797865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B163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BFD7FDF-AFE4-4B2B-A7C0-8EFEAC6CE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5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rPr>
              <a:t>10 竞争力与路线图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BBDCF5-3973-48CC-B06E-A7E166B72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550" b="1">
                <a:solidFill>
                  <a:srgbClr val="0B16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630"/>
                </a:solidFill>
                <a:latin typeface="Microsoft YaHei"/>
                <a:ea typeface="Microsoft YaHei"/>
                <a:cs typeface="Microsoft YaHei"/>
              </a:rPr>
              <a:t>核心竞争力来自“工程闭环 + 可复用知识”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B080AD-63DA-4C44-9A95-736C22CD2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0">
                <a:solidFill>
                  <a:srgbClr val="6675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58F"/>
                </a:solidFill>
                <a:latin typeface="Microsoft YaHei"/>
                <a:ea typeface="Microsoft YaHei"/>
                <a:cs typeface="Microsoft YaHei"/>
              </a:rPr>
              <a:t>让 AI 输出进入真实固件交付，而不是停留在聊天窗口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19D9B2-11C7-428A-A835-8C903C99D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95550"/>
            <a:ext cx="10496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477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B36DCC-EB1F-4BBA-821D-A92ED6E8E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002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工程闭环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417D02-8077-48F9-BDD4-3D85ED570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01930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0">
                <a:solidFill>
                  <a:srgbClr val="C7D5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C7D5F0"/>
                </a:solidFill>
                <a:latin typeface="Microsoft YaHei"/>
                <a:ea typeface="Microsoft YaHei"/>
                <a:cs typeface="Microsoft YaHei"/>
              </a:rPr>
              <a:t>编译、测试、审查结果进入同一任务链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5947E0-D7E6-4276-A4D3-9AFF24DA0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981200"/>
            <a:ext cx="11430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3566"/>
          </a:solidFill>
          <a:ln xmlns:a="http://schemas.openxmlformats.org/drawingml/2006/main" w="9525">
            <a:solidFill>
              <a:srgbClr val="1B356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915507-BFC5-44A1-9951-556CF5C96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03835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9324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975" b="1">
                <a:solidFill>
                  <a:srgbClr val="9FB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9FBFFF"/>
                </a:solidFill>
                <a:latin typeface="Microsoft YaHei"/>
                <a:ea typeface="Microsoft YaHei"/>
                <a:cs typeface="Microsoft YaHei"/>
              </a:rPr>
              <a:t>可验证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983DA8-142B-49A3-B7CC-84E342A79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62300"/>
            <a:ext cx="10496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477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7FBEA1-5D2A-4CE7-8512-41D1F3F5B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6700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模型解耦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33679D-D46D-4422-9E28-B7DA1B808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6860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0">
                <a:solidFill>
                  <a:srgbClr val="C7D5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C7D5F0"/>
                </a:solidFill>
                <a:latin typeface="Microsoft YaHei"/>
                <a:ea typeface="Microsoft YaHei"/>
                <a:cs typeface="Microsoft YaHei"/>
              </a:rPr>
              <a:t>6 类 Provider 统一接入，故障自动切换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DB8687-B26C-4962-B084-41C99C060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647950"/>
            <a:ext cx="11430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3566"/>
          </a:solidFill>
          <a:ln xmlns:a="http://schemas.openxmlformats.org/drawingml/2006/main" w="9525">
            <a:solidFill>
              <a:srgbClr val="1B356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CE7DD9-F539-4E93-AB7C-823472C8E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70510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9324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975" b="1">
                <a:solidFill>
                  <a:srgbClr val="9FB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9FBFFF"/>
                </a:solidFill>
                <a:latin typeface="Microsoft YaHei"/>
                <a:ea typeface="Microsoft YaHei"/>
                <a:cs typeface="Microsoft YaHei"/>
              </a:rPr>
              <a:t>可持续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34764F-D6E9-4D32-ACAE-238A81FCF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29050"/>
            <a:ext cx="10496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477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2AB48A-00DD-475C-9B9A-2417DEC20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337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工具接入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9256A4-BCDA-443F-932D-E321C0655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35280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0">
                <a:solidFill>
                  <a:srgbClr val="C7D5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C7D5F0"/>
                </a:solidFill>
                <a:latin typeface="Microsoft YaHei"/>
                <a:ea typeface="Microsoft YaHei"/>
                <a:cs typeface="Microsoft YaHei"/>
              </a:rPr>
              <a:t>MCP 连接芯片、构建、协作系统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BC26F13-53BC-4BA4-A972-A01F493A9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314700"/>
            <a:ext cx="11430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3566"/>
          </a:solidFill>
          <a:ln xmlns:a="http://schemas.openxmlformats.org/drawingml/2006/main" w="9525">
            <a:solidFill>
              <a:srgbClr val="1B356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4BB80C-4AA3-41FA-AA3C-8BC9BE0D8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37185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9324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975" b="1">
                <a:solidFill>
                  <a:srgbClr val="9FB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9FBFFF"/>
                </a:solidFill>
                <a:latin typeface="Microsoft YaHei"/>
                <a:ea typeface="Microsoft YaHei"/>
                <a:cs typeface="Microsoft YaHei"/>
              </a:rPr>
              <a:t>可扩展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49642A9-5C98-4160-8DBD-CEE37DCA5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95800"/>
            <a:ext cx="10496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477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F6FCC66-3444-42AE-A714-4AFADEF0C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0050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知识复用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CF273B3-31CA-4F15-B63C-955358C70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0195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0">
                <a:solidFill>
                  <a:srgbClr val="C7D5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C7D5F0"/>
                </a:solidFill>
                <a:latin typeface="Microsoft YaHei"/>
                <a:ea typeface="Microsoft YaHei"/>
                <a:cs typeface="Microsoft YaHei"/>
              </a:rPr>
              <a:t>Register-first 检索，结果可回写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886C060-FC80-4622-BB77-B1C642492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981450"/>
            <a:ext cx="11430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3566"/>
          </a:solidFill>
          <a:ln xmlns:a="http://schemas.openxmlformats.org/drawingml/2006/main" w="9525">
            <a:solidFill>
              <a:srgbClr val="1B356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26B90BC-E14A-4182-AEF2-4FE8B9FD5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03860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9324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975" b="1">
                <a:solidFill>
                  <a:srgbClr val="9FB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9FBFFF"/>
                </a:solidFill>
                <a:latin typeface="Microsoft YaHei"/>
                <a:ea typeface="Microsoft YaHei"/>
                <a:cs typeface="Microsoft YaHei"/>
              </a:rPr>
              <a:t>可积累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5C62972-215A-41D5-A186-111484DB9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33950"/>
            <a:ext cx="10477500" cy="838200"/>
          </a:xfrm>
          <a:prstGeom xmlns:a="http://schemas.openxmlformats.org/drawingml/2006/main" prst="roundRect">
            <a:avLst>
              <a:gd name="adj" fmla="val 22727"/>
            </a:avLst>
          </a:prstGeom>
          <a:solidFill xmlns:a="http://schemas.openxmlformats.org/drawingml/2006/main">
            <a:srgbClr val="142B56"/>
          </a:solidFill>
          <a:ln xmlns:a="http://schemas.openxmlformats.org/drawingml/2006/main" w="9525">
            <a:solidFill>
              <a:srgbClr val="2B4C8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1CE0B84-5E7B-4EF0-B9DD-2A18CA167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143500"/>
            <a:ext cx="971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8FB3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8FB3FF"/>
                </a:solidFill>
                <a:latin typeface="Microsoft YaHei"/>
                <a:ea typeface="Microsoft YaHei"/>
                <a:cs typeface="Microsoft YaHei"/>
              </a:rPr>
              <a:t>下一步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BB18A3A-67EB-4DD7-A7B7-FDC9B44D2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429250"/>
            <a:ext cx="981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658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扩展芯片知识覆盖、完善自动化评测、沉淀行业 Agent 模板。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0496190-42CB-4E65-9290-6C17A84B4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324600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0">
                <a:solidFill>
                  <a:srgbClr val="90A6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90A6D2"/>
                </a:solidFill>
                <a:latin typeface="Microsoft YaHei"/>
                <a:ea typeface="Microsoft YaHei"/>
                <a:cs typeface="Microsoft YaHei"/>
              </a:rPr>
              <a:t>Macode FW AI Agent  ·  让固件研发从经验驱动走向可验证协同</a:t>
            </a:r>
          </a:p>
        </p:txBody>
      </p:sp>
    </p:spTree>
    <p:extLst>
      <p:ext uri="{BB962C8B-B14F-4D97-AF65-F5344CB8AC3E}">
        <p14:creationId xmlns:p14="http://schemas.microsoft.com/office/powerpoint/2010/main" val="35239211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2026-09-11T00:05:41.8380000Z</dcterms:created>
  <dcterms:modified xsi:type="dcterms:W3CDTF">2026-09-11T00:05:41.8380000Z</dcterms:modified>
</coreProperties>
</file>